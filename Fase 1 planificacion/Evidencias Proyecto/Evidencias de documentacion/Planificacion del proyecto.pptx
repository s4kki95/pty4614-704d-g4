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layfair Displ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g4DUN5Xo2UAOwi9BzgGvLIeUk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D70D9B-BCA0-4757-813F-18B425A4B124}">
  <a:tblStyle styleId="{1BD70D9B-BCA0-4757-813F-18B425A4B1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fairDisplay-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d3b6f77fb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d3b6f77fb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d3b6f77fb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da4e95dbd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7da4e95dbd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da4e95dbd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7da4e95dbd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8cc0954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78cc0954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da4e95dbd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7da4e95dbd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da4e95dbd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7da4e95dbd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db6fa1f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7db6fa1f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e6c4b9ea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7e6c4b9ea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b6fa1f3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7db6fa1f3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dbfbcf21c_0_28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7dbfbcf21c_0_28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dbfbcf21c_0_28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7dbfbcf21c_0_28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dbfbcf21c_0_28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7dbfbcf21c_0_28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0c6dcdfd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00c6dcdfd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dbfbcf21c_0_2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7dbfbcf21c_0_2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0c6dcdfd3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00c6dcdfd3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beba24151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7beba24151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7beba24151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beba24151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7beba24151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7beba24151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beba24151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7beba24151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7beba24151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beba24151_1_10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7beba24151_1_10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7beba24151_1_10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dbfbcf21c_0_2759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7dbfbcf21c_0_2759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" name="Google Shape;16;g37dbfbcf21c_0_2759"/>
          <p:cNvCxnSpPr/>
          <p:nvPr/>
        </p:nvCxnSpPr>
        <p:spPr>
          <a:xfrm>
            <a:off x="977625" y="2980467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7dbfbcf21c_0_2759"/>
          <p:cNvSpPr txBox="1"/>
          <p:nvPr>
            <p:ph type="ctrTitle"/>
          </p:nvPr>
        </p:nvSpPr>
        <p:spPr>
          <a:xfrm>
            <a:off x="840800" y="182400"/>
            <a:ext cx="10524000" cy="247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130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8" name="Google Shape;18;g37dbfbcf21c_0_2759"/>
          <p:cNvSpPr txBox="1"/>
          <p:nvPr>
            <p:ph idx="1" type="subTitle"/>
          </p:nvPr>
        </p:nvSpPr>
        <p:spPr>
          <a:xfrm>
            <a:off x="840800" y="4304500"/>
            <a:ext cx="10524000" cy="1698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g37dbfbcf21c_0_27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dbfbcf21c_0_2766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7dbfbcf21c_0_2766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7dbfbcf21c_0_2766"/>
          <p:cNvSpPr txBox="1"/>
          <p:nvPr>
            <p:ph type="title"/>
          </p:nvPr>
        </p:nvSpPr>
        <p:spPr>
          <a:xfrm>
            <a:off x="679400" y="2561800"/>
            <a:ext cx="10833300" cy="173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7dbfbcf21c_0_27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7dbfbcf21c_0_2771"/>
          <p:cNvSpPr/>
          <p:nvPr/>
        </p:nvSpPr>
        <p:spPr>
          <a:xfrm>
            <a:off x="-167" y="6727600"/>
            <a:ext cx="12192000" cy="1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" name="Google Shape;27;g37dbfbcf21c_0_2771"/>
          <p:cNvCxnSpPr/>
          <p:nvPr/>
        </p:nvCxnSpPr>
        <p:spPr>
          <a:xfrm>
            <a:off x="559233" y="1538926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g37dbfbcf21c_0_2771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9" name="Google Shape;29;g37dbfbcf21c_0_2771"/>
          <p:cNvSpPr txBox="1"/>
          <p:nvPr>
            <p:ph idx="1" type="body"/>
          </p:nvPr>
        </p:nvSpPr>
        <p:spPr>
          <a:xfrm>
            <a:off x="415600" y="1890400"/>
            <a:ext cx="11360700" cy="420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g37dbfbcf21c_0_27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g37dbfbcf21c_0_2777"/>
          <p:cNvCxnSpPr/>
          <p:nvPr/>
        </p:nvCxnSpPr>
        <p:spPr>
          <a:xfrm>
            <a:off x="559233" y="1538926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7dbfbcf21c_0_2777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4" name="Google Shape;34;g37dbfbcf21c_0_2777"/>
          <p:cNvSpPr txBox="1"/>
          <p:nvPr>
            <p:ph idx="1" type="body"/>
          </p:nvPr>
        </p:nvSpPr>
        <p:spPr>
          <a:xfrm>
            <a:off x="415600" y="1890600"/>
            <a:ext cx="5333100" cy="420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7dbfbcf21c_0_2777"/>
          <p:cNvSpPr txBox="1"/>
          <p:nvPr>
            <p:ph idx="2" type="body"/>
          </p:nvPr>
        </p:nvSpPr>
        <p:spPr>
          <a:xfrm>
            <a:off x="6443200" y="1890600"/>
            <a:ext cx="5333100" cy="420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g37dbfbcf21c_0_27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dbfbcf21c_0_2783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9" name="Google Shape;39;g37dbfbcf21c_0_278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g37dbfbcf21c_0_2786"/>
          <p:cNvCxnSpPr/>
          <p:nvPr/>
        </p:nvCxnSpPr>
        <p:spPr>
          <a:xfrm>
            <a:off x="548058" y="1890363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7dbfbcf21c_0_278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3" name="Google Shape;43;g37dbfbcf21c_0_2786"/>
          <p:cNvSpPr txBox="1"/>
          <p:nvPr>
            <p:ph idx="1" type="body"/>
          </p:nvPr>
        </p:nvSpPr>
        <p:spPr>
          <a:xfrm>
            <a:off x="415600" y="2187133"/>
            <a:ext cx="3744000" cy="39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" name="Google Shape;44;g37dbfbcf21c_0_27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dbfbcf21c_0_2791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7dbfbcf21c_0_2791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7dbfbcf21c_0_2791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9" name="Google Shape;49;g37dbfbcf21c_0_27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dbfbcf21c_0_2796"/>
          <p:cNvSpPr/>
          <p:nvPr/>
        </p:nvSpPr>
        <p:spPr>
          <a:xfrm>
            <a:off x="6096000" y="-1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" name="Google Shape;52;g37dbfbcf21c_0_2796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g37dbfbcf21c_0_2796"/>
          <p:cNvSpPr txBox="1"/>
          <p:nvPr>
            <p:ph type="title"/>
          </p:nvPr>
        </p:nvSpPr>
        <p:spPr>
          <a:xfrm>
            <a:off x="354000" y="1446167"/>
            <a:ext cx="5393700" cy="2276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4" name="Google Shape;54;g37dbfbcf21c_0_2796"/>
          <p:cNvSpPr txBox="1"/>
          <p:nvPr>
            <p:ph idx="1" type="subTitle"/>
          </p:nvPr>
        </p:nvSpPr>
        <p:spPr>
          <a:xfrm>
            <a:off x="354000" y="3793600"/>
            <a:ext cx="5393700" cy="1895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5" name="Google Shape;55;g37dbfbcf21c_0_2796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6" name="Google Shape;56;g37dbfbcf21c_0_27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dbfbcf21c_0_2803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9" name="Google Shape;59;g37dbfbcf21c_0_280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dbfbcf21c_0_2806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dbfbcf21c_0_2806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dbfbcf21c_0_2806"/>
          <p:cNvSpPr txBox="1"/>
          <p:nvPr>
            <p:ph hasCustomPrompt="1" type="title"/>
          </p:nvPr>
        </p:nvSpPr>
        <p:spPr>
          <a:xfrm>
            <a:off x="782300" y="1805050"/>
            <a:ext cx="106275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g37dbfbcf21c_0_2806"/>
          <p:cNvSpPr txBox="1"/>
          <p:nvPr>
            <p:ph idx="1" type="body"/>
          </p:nvPr>
        </p:nvSpPr>
        <p:spPr>
          <a:xfrm>
            <a:off x="782300" y="3957850"/>
            <a:ext cx="106275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" name="Google Shape;65;g37dbfbcf21c_0_280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dbfbcf21c_0_28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dbfbcf21c_0_2755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" name="Google Shape;11;g37dbfbcf21c_0_2755"/>
          <p:cNvSpPr txBox="1"/>
          <p:nvPr>
            <p:ph idx="1" type="body"/>
          </p:nvPr>
        </p:nvSpPr>
        <p:spPr>
          <a:xfrm>
            <a:off x="415600" y="1890400"/>
            <a:ext cx="11360700" cy="4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●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●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7dbfbcf21c_0_27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d3b6f77fb_3_0"/>
          <p:cNvSpPr txBox="1"/>
          <p:nvPr/>
        </p:nvSpPr>
        <p:spPr>
          <a:xfrm>
            <a:off x="3538650" y="77500"/>
            <a:ext cx="51147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1"/>
                </a:solidFill>
              </a:rPr>
              <a:t>Planificación</a:t>
            </a:r>
            <a:r>
              <a:rPr lang="es-419" sz="2400">
                <a:solidFill>
                  <a:schemeClr val="dk1"/>
                </a:solidFill>
              </a:rPr>
              <a:t> del Proyecto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74" name="Google Shape;74;g37d3b6f77fb_3_0"/>
          <p:cNvSpPr txBox="1"/>
          <p:nvPr/>
        </p:nvSpPr>
        <p:spPr>
          <a:xfrm>
            <a:off x="824700" y="5625075"/>
            <a:ext cx="47949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</a:rPr>
              <a:t>Integrantes: Matias Marchant, Adan Sagurie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</a:rPr>
              <a:t>Sección</a:t>
            </a:r>
            <a:r>
              <a:rPr lang="es-419" sz="1700">
                <a:solidFill>
                  <a:schemeClr val="lt2"/>
                </a:solidFill>
              </a:rPr>
              <a:t>: 704D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</a:rPr>
              <a:t>Docente: Christian Lazcano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6275" y="772300"/>
            <a:ext cx="49977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419" sz="3559">
                <a:latin typeface="Arial"/>
                <a:ea typeface="Arial"/>
                <a:cs typeface="Arial"/>
                <a:sym typeface="Arial"/>
              </a:rPr>
              <a:t>Contexto de negocio y Problema detectado</a:t>
            </a:r>
            <a:endParaRPr sz="35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40075" y="2872900"/>
            <a:ext cx="4670100" cy="2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419" sz="2000">
                <a:solidFill>
                  <a:schemeClr val="dk1"/>
                </a:solidFill>
              </a:rPr>
              <a:t>Hoy en </a:t>
            </a:r>
            <a:r>
              <a:rPr lang="es-419" sz="2000">
                <a:solidFill>
                  <a:schemeClr val="dk1"/>
                </a:solidFill>
              </a:rPr>
              <a:t>día</a:t>
            </a:r>
            <a:r>
              <a:rPr lang="es-419" sz="2000">
                <a:solidFill>
                  <a:schemeClr val="dk1"/>
                </a:solidFill>
              </a:rPr>
              <a:t>, las empresas TI tienen una necesidad clara donde hacen procesos de </a:t>
            </a:r>
            <a:r>
              <a:rPr lang="es-419" sz="2000">
                <a:solidFill>
                  <a:schemeClr val="dk1"/>
                </a:solidFill>
              </a:rPr>
              <a:t>contratación</a:t>
            </a:r>
            <a:r>
              <a:rPr lang="es-419" sz="2000">
                <a:solidFill>
                  <a:schemeClr val="dk1"/>
                </a:solidFill>
              </a:rPr>
              <a:t> y hay veces en que los procesos de estas mismas, no </a:t>
            </a:r>
            <a:r>
              <a:rPr lang="es-419" sz="2000">
                <a:solidFill>
                  <a:schemeClr val="dk1"/>
                </a:solidFill>
              </a:rPr>
              <a:t>están</a:t>
            </a:r>
            <a:r>
              <a:rPr lang="es-419" sz="2000">
                <a:solidFill>
                  <a:schemeClr val="dk1"/>
                </a:solidFill>
              </a:rPr>
              <a:t> especializados y automatizados para estos temas, ya que, como base tienen 11.200 </a:t>
            </a:r>
            <a:r>
              <a:rPr lang="es-419" sz="2000">
                <a:solidFill>
                  <a:schemeClr val="dk1"/>
                </a:solidFill>
              </a:rPr>
              <a:t>informáticos</a:t>
            </a:r>
            <a:r>
              <a:rPr lang="es-419" sz="2000">
                <a:solidFill>
                  <a:schemeClr val="dk1"/>
                </a:solidFill>
              </a:rPr>
              <a:t> en proceso de </a:t>
            </a:r>
            <a:r>
              <a:rPr lang="es-419" sz="2000">
                <a:solidFill>
                  <a:schemeClr val="dk1"/>
                </a:solidFill>
              </a:rPr>
              <a:t>contratación</a:t>
            </a:r>
            <a:r>
              <a:rPr lang="es-419" sz="2000">
                <a:solidFill>
                  <a:schemeClr val="dk1"/>
                </a:solidFill>
              </a:rPr>
              <a:t>.</a:t>
            </a: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975" y="1489175"/>
            <a:ext cx="6096000" cy="4143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da4e95dbd_1_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7da4e95dbd_1_2"/>
          <p:cNvSpPr txBox="1"/>
          <p:nvPr>
            <p:ph type="title"/>
          </p:nvPr>
        </p:nvSpPr>
        <p:spPr>
          <a:xfrm>
            <a:off x="476275" y="772300"/>
            <a:ext cx="49977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419" sz="3559">
                <a:latin typeface="Arial"/>
                <a:ea typeface="Arial"/>
                <a:cs typeface="Arial"/>
                <a:sym typeface="Arial"/>
              </a:rPr>
              <a:t>Contexto de negocio y Problema detectado</a:t>
            </a:r>
            <a:endParaRPr sz="35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7da4e95dbd_1_2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7da4e95dbd_1_2"/>
          <p:cNvSpPr txBox="1"/>
          <p:nvPr/>
        </p:nvSpPr>
        <p:spPr>
          <a:xfrm>
            <a:off x="640075" y="2872900"/>
            <a:ext cx="4670100" cy="2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419" sz="2000">
                <a:solidFill>
                  <a:schemeClr val="dk1"/>
                </a:solidFill>
              </a:rPr>
              <a:t>Otro de los problemas detectados, es que los alumnos en </a:t>
            </a:r>
            <a:r>
              <a:rPr lang="es-419" sz="2000">
                <a:solidFill>
                  <a:schemeClr val="dk1"/>
                </a:solidFill>
              </a:rPr>
              <a:t>práctica</a:t>
            </a:r>
            <a:r>
              <a:rPr lang="es-419" sz="2000">
                <a:solidFill>
                  <a:schemeClr val="dk1"/>
                </a:solidFill>
              </a:rPr>
              <a:t> no tienen </a:t>
            </a:r>
            <a:r>
              <a:rPr lang="es-419" sz="2000">
                <a:solidFill>
                  <a:schemeClr val="dk1"/>
                </a:solidFill>
              </a:rPr>
              <a:t>dónde</a:t>
            </a:r>
            <a:r>
              <a:rPr lang="es-419" sz="2000">
                <a:solidFill>
                  <a:schemeClr val="dk1"/>
                </a:solidFill>
              </a:rPr>
              <a:t> postular de forma abierta y la </a:t>
            </a:r>
            <a:r>
              <a:rPr lang="es-419" sz="2000">
                <a:solidFill>
                  <a:schemeClr val="dk1"/>
                </a:solidFill>
              </a:rPr>
              <a:t>única</a:t>
            </a:r>
            <a:r>
              <a:rPr lang="es-419" sz="2000">
                <a:solidFill>
                  <a:schemeClr val="dk1"/>
                </a:solidFill>
              </a:rPr>
              <a:t> forma que se enteran es mediante anuncios, ya que, el proceso de </a:t>
            </a:r>
            <a:r>
              <a:rPr lang="es-419" sz="2000">
                <a:solidFill>
                  <a:schemeClr val="dk1"/>
                </a:solidFill>
              </a:rPr>
              <a:t>contratación</a:t>
            </a:r>
            <a:r>
              <a:rPr lang="es-419" sz="2000">
                <a:solidFill>
                  <a:schemeClr val="dk1"/>
                </a:solidFill>
              </a:rPr>
              <a:t>, aun es muy tradicional.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7da4e95dbd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650" y="1361525"/>
            <a:ext cx="5550275" cy="4699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da4e95dbd_1_11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da4e95dbd_1_11"/>
          <p:cNvSpPr txBox="1"/>
          <p:nvPr>
            <p:ph type="title"/>
          </p:nvPr>
        </p:nvSpPr>
        <p:spPr>
          <a:xfrm>
            <a:off x="4232850" y="134850"/>
            <a:ext cx="37233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419" sz="3559"/>
              <a:t>Nuestra </a:t>
            </a:r>
            <a:r>
              <a:rPr lang="es-419" sz="3559"/>
              <a:t>solución</a:t>
            </a:r>
            <a:endParaRPr sz="35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7da4e95dbd_1_11"/>
          <p:cNvSpPr/>
          <p:nvPr/>
        </p:nvSpPr>
        <p:spPr>
          <a:xfrm>
            <a:off x="4358643" y="80654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7da4e95dbd_1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988" y="1089675"/>
            <a:ext cx="7039024" cy="4678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1" name="Google Shape;101;g37da4e95dbd_1_11" title="localho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100" y="963725"/>
            <a:ext cx="7964126" cy="52935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2" name="Google Shape;102;g37da4e95dbd_1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987" y="824825"/>
            <a:ext cx="9310050" cy="5649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cc095438_0_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78cc095438_0_0"/>
          <p:cNvSpPr txBox="1"/>
          <p:nvPr>
            <p:ph type="title"/>
          </p:nvPr>
        </p:nvSpPr>
        <p:spPr>
          <a:xfrm>
            <a:off x="640080" y="325369"/>
            <a:ext cx="43686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78cc095438_0_0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78cc095438_0_0"/>
          <p:cNvSpPr txBox="1"/>
          <p:nvPr/>
        </p:nvSpPr>
        <p:spPr>
          <a:xfrm>
            <a:off x="640080" y="2872899"/>
            <a:ext cx="4670100" cy="3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estratégico es diseñar una página web</a:t>
            </a:r>
            <a:r>
              <a:rPr lang="es-419" sz="2000">
                <a:solidFill>
                  <a:schemeClr val="dk1"/>
                </a:solidFill>
              </a:rPr>
              <a:t> responsive para la </a:t>
            </a:r>
            <a:r>
              <a:rPr lang="es-419" sz="2000">
                <a:solidFill>
                  <a:schemeClr val="dk1"/>
                </a:solidFill>
              </a:rPr>
              <a:t>postulación</a:t>
            </a:r>
            <a:r>
              <a:rPr lang="es-419" sz="2000">
                <a:solidFill>
                  <a:schemeClr val="dk1"/>
                </a:solidFill>
              </a:rPr>
              <a:t>, la </a:t>
            </a:r>
            <a:r>
              <a:rPr lang="es-419" sz="2000">
                <a:solidFill>
                  <a:schemeClr val="dk1"/>
                </a:solidFill>
              </a:rPr>
              <a:t>citación</a:t>
            </a:r>
            <a:r>
              <a:rPr lang="es-419" sz="2000">
                <a:solidFill>
                  <a:schemeClr val="dk1"/>
                </a:solidFill>
              </a:rPr>
              <a:t> y la entrevista para la </a:t>
            </a:r>
            <a:r>
              <a:rPr lang="es-419" sz="2000">
                <a:solidFill>
                  <a:schemeClr val="dk1"/>
                </a:solidFill>
              </a:rPr>
              <a:t>capacitación</a:t>
            </a:r>
            <a:r>
              <a:rPr lang="es-419" sz="2000">
                <a:solidFill>
                  <a:schemeClr val="dk1"/>
                </a:solidFill>
              </a:rPr>
              <a:t> del practicante.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Mientras que nuestro objetivo principal, es </a:t>
            </a:r>
            <a:r>
              <a:rPr lang="es-419" sz="2000">
                <a:solidFill>
                  <a:schemeClr val="dk1"/>
                </a:solidFill>
              </a:rPr>
              <a:t>hacer una </a:t>
            </a:r>
            <a:r>
              <a:rPr lang="es-419" sz="2000">
                <a:solidFill>
                  <a:schemeClr val="dk1"/>
                </a:solidFill>
              </a:rPr>
              <a:t>aplicación</a:t>
            </a:r>
            <a:r>
              <a:rPr lang="es-419" sz="2000">
                <a:solidFill>
                  <a:schemeClr val="dk1"/>
                </a:solidFill>
              </a:rPr>
              <a:t> que concentre todas las postulaciones en el </a:t>
            </a:r>
            <a:r>
              <a:rPr lang="es-419" sz="2000">
                <a:solidFill>
                  <a:schemeClr val="dk1"/>
                </a:solidFill>
              </a:rPr>
              <a:t>área</a:t>
            </a:r>
            <a:r>
              <a:rPr lang="es-419" sz="2000">
                <a:solidFill>
                  <a:schemeClr val="dk1"/>
                </a:solidFill>
              </a:rPr>
              <a:t> </a:t>
            </a:r>
            <a:r>
              <a:rPr lang="es-419" sz="2000">
                <a:solidFill>
                  <a:schemeClr val="dk1"/>
                </a:solidFill>
              </a:rPr>
              <a:t>informática para las distintas empresas</a:t>
            </a:r>
            <a:r>
              <a:rPr lang="es-419" sz="2000">
                <a:solidFill>
                  <a:schemeClr val="dk1"/>
                </a:solidFill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78cc09543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6475" y="1075438"/>
            <a:ext cx="6454200" cy="4707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da4e95dbd_1_2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7da4e95dbd_1_20"/>
          <p:cNvSpPr txBox="1"/>
          <p:nvPr>
            <p:ph type="title"/>
          </p:nvPr>
        </p:nvSpPr>
        <p:spPr>
          <a:xfrm>
            <a:off x="598225" y="3024896"/>
            <a:ext cx="4368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7da4e95dbd_1_20"/>
          <p:cNvSpPr/>
          <p:nvPr/>
        </p:nvSpPr>
        <p:spPr>
          <a:xfrm>
            <a:off x="648480" y="381481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7da4e95dbd_1_20" title="Sin títu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125" y="833725"/>
            <a:ext cx="7255824" cy="57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7da4e95dbd_1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3000" y="0"/>
            <a:ext cx="74580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640075" y="325375"/>
            <a:ext cx="10108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Actores </a:t>
            </a:r>
            <a:r>
              <a:rPr lang="es-419" sz="5400"/>
              <a:t>y usuarios </a:t>
            </a: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40080" y="11362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40075" y="1488100"/>
            <a:ext cx="3474600" cy="3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Patrocinador  Cliente: Empresas TI que desean contratar alumnos en </a:t>
            </a:r>
            <a:r>
              <a:rPr lang="es-419" sz="2000">
                <a:solidFill>
                  <a:schemeClr val="dk1"/>
                </a:solidFill>
              </a:rPr>
              <a:t>práctica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</a:t>
            </a: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eholder´s</a:t>
            </a: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Departamento</a:t>
            </a:r>
            <a:r>
              <a:rPr lang="es-419" sz="2000">
                <a:solidFill>
                  <a:schemeClr val="dk1"/>
                </a:solidFill>
              </a:rPr>
              <a:t>s de RRHH de cada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principal de proyecto: </a:t>
            </a:r>
            <a:r>
              <a:rPr lang="es-419" sz="2000">
                <a:solidFill>
                  <a:schemeClr val="dk1"/>
                </a:solidFill>
              </a:rPr>
              <a:t>Equipo Simutech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p6"/>
          <p:cNvGraphicFramePr/>
          <p:nvPr/>
        </p:nvGraphicFramePr>
        <p:xfrm>
          <a:off x="6629000" y="14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{1BD70D9B-BCA0-4757-813F-18B425A4B124}</a:tableStyleId>
              </a:tblPr>
              <a:tblGrid>
                <a:gridCol w="2313500"/>
                <a:gridCol w="23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RRHH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Contratación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Encargado de realizar las publicaciones para la empresa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Ingresar a vista principal personalizada para su empresa.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Publicar los anuncios de práctica.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Ver y gestionar las postulaciones.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-poder ver quienes postularon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-Validar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documentación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ofrecida por el postulante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-aceptar/rechazar postulantes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-modificar/eliminar postulaciones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da4e95dbd_1_2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7da4e95dbd_1_29"/>
          <p:cNvSpPr txBox="1"/>
          <p:nvPr>
            <p:ph type="title"/>
          </p:nvPr>
        </p:nvSpPr>
        <p:spPr>
          <a:xfrm>
            <a:off x="640075" y="325375"/>
            <a:ext cx="10108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Actores </a:t>
            </a:r>
            <a:r>
              <a:rPr lang="es-419" sz="5400"/>
              <a:t>y usuarios </a:t>
            </a: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</p:txBody>
      </p:sp>
      <p:sp>
        <p:nvSpPr>
          <p:cNvPr id="135" name="Google Shape;135;g37da4e95dbd_1_29"/>
          <p:cNvSpPr/>
          <p:nvPr/>
        </p:nvSpPr>
        <p:spPr>
          <a:xfrm>
            <a:off x="640080" y="11362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" name="Google Shape;136;g37da4e95dbd_1_29"/>
          <p:cNvGraphicFramePr/>
          <p:nvPr/>
        </p:nvGraphicFramePr>
        <p:xfrm>
          <a:off x="842575" y="187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{1BD70D9B-BCA0-4757-813F-18B425A4B124}</a:tableStyleId>
              </a:tblPr>
              <a:tblGrid>
                <a:gridCol w="2313500"/>
                <a:gridCol w="23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Practicante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Serán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los principales usuarios,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serán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aquellos que postulen a las ofertas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prácticas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que tengan las empresas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Ingresar a vista principal donde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podrán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ver las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prácticas que se encuentren disponibles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Podrán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postular a estas mismas subiendo su CV, seguro escolar y Documento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validación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práctica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Podrán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ver el historial de postulaciones a la que han aplicado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" name="Google Shape;137;g37da4e95dbd_1_29"/>
          <p:cNvGraphicFramePr/>
          <p:nvPr/>
        </p:nvGraphicFramePr>
        <p:xfrm>
          <a:off x="6352800" y="187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{1BD70D9B-BCA0-4757-813F-18B425A4B124}</a:tableStyleId>
              </a:tblPr>
              <a:tblGrid>
                <a:gridCol w="2313500"/>
                <a:gridCol w="23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Administrador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Se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encargará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de otorgar los permisos correspondientes a las empresas para que estas puedan crear las ofertas de practica a la vez que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también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será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el encargado de crear las cuentas de empresa para estas mismas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puede otorgar y revocar privilegios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creación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eliminar postulaciones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según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corresponda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db6fa1f3b_0_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7db6fa1f3b_0_0"/>
          <p:cNvSpPr txBox="1"/>
          <p:nvPr>
            <p:ph type="title"/>
          </p:nvPr>
        </p:nvSpPr>
        <p:spPr>
          <a:xfrm>
            <a:off x="640075" y="325375"/>
            <a:ext cx="10108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Actores </a:t>
            </a:r>
            <a:r>
              <a:rPr lang="es-419" sz="5400"/>
              <a:t>y usuarios </a:t>
            </a: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</p:txBody>
      </p:sp>
      <p:sp>
        <p:nvSpPr>
          <p:cNvPr id="144" name="Google Shape;144;g37db6fa1f3b_0_0"/>
          <p:cNvSpPr/>
          <p:nvPr/>
        </p:nvSpPr>
        <p:spPr>
          <a:xfrm>
            <a:off x="640080" y="11362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" name="Google Shape;145;g37db6fa1f3b_0_0"/>
          <p:cNvGraphicFramePr/>
          <p:nvPr/>
        </p:nvGraphicFramePr>
        <p:xfrm>
          <a:off x="842575" y="1866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{1BD70D9B-BCA0-4757-813F-18B425A4B124}</a:tableStyleId>
              </a:tblPr>
              <a:tblGrid>
                <a:gridCol w="2313500"/>
                <a:gridCol w="2313500"/>
              </a:tblGrid>
              <a:tr h="4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Capacitador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Se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encargará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de validar a los postulantes aceptados por el RRHH.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Recibe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notificación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por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Ver postulantes admitidos por RRHH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Validar o rechazar al practicante aprobado por RRHH.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Proporcionar retroalimentación sobre su desempeño.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6" name="Google Shape;146;g37db6fa1f3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075" y="1183488"/>
            <a:ext cx="5018501" cy="49093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e6c4b9ea9_0_7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7e6c4b9ea9_0_7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sp>
        <p:nvSpPr>
          <p:cNvPr id="153" name="Google Shape;153;g37e6c4b9ea9_0_7"/>
          <p:cNvSpPr/>
          <p:nvPr/>
        </p:nvSpPr>
        <p:spPr>
          <a:xfrm>
            <a:off x="640080" y="37746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7e6c4b9ea9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775" y="1120975"/>
            <a:ext cx="5530500" cy="532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" y="374011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175" y="1120975"/>
            <a:ext cx="59436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db6fa1f3b_0_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db6fa1f3b_0_8"/>
          <p:cNvSpPr/>
          <p:nvPr/>
        </p:nvSpPr>
        <p:spPr>
          <a:xfrm>
            <a:off x="688230" y="38267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db6fa1f3b_0_8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70" name="Google Shape;170;g37db6fa1f3b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700" y="1085850"/>
            <a:ext cx="59436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dbfbcf21c_0_281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dbfbcf21c_0_2814"/>
          <p:cNvSpPr/>
          <p:nvPr/>
        </p:nvSpPr>
        <p:spPr>
          <a:xfrm>
            <a:off x="640080" y="373124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7dbfbcf21c_0_2814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78" name="Google Shape;178;g37dbfbcf21c_0_28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2575" y="514350"/>
            <a:ext cx="54864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bfbcf21c_0_282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dbfbcf21c_0_2820"/>
          <p:cNvSpPr/>
          <p:nvPr/>
        </p:nvSpPr>
        <p:spPr>
          <a:xfrm>
            <a:off x="726780" y="380851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7dbfbcf21c_0_2820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86" name="Google Shape;186;g37dbfbcf21c_0_28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25" y="1035125"/>
            <a:ext cx="6855176" cy="47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dbfbcf21c_0_2826"/>
          <p:cNvSpPr/>
          <p:nvPr/>
        </p:nvSpPr>
        <p:spPr>
          <a:xfrm>
            <a:off x="15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7dbfbcf21c_0_2826"/>
          <p:cNvSpPr/>
          <p:nvPr/>
        </p:nvSpPr>
        <p:spPr>
          <a:xfrm>
            <a:off x="640080" y="38267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7dbfbcf21c_0_2826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94" name="Google Shape;194;g37dbfbcf21c_0_28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550" y="1200150"/>
            <a:ext cx="705802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626475" y="2623650"/>
            <a:ext cx="29985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y artefactos del sistema</a:t>
            </a:r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12265"/>
          <a:stretch/>
        </p:blipFill>
        <p:spPr>
          <a:xfrm>
            <a:off x="5479405" y="10"/>
            <a:ext cx="6878775" cy="685800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02" name="Google Shape;202;p10"/>
          <p:cNvGrpSpPr/>
          <p:nvPr/>
        </p:nvGrpSpPr>
        <p:grpSpPr>
          <a:xfrm>
            <a:off x="4016548" y="5429000"/>
            <a:ext cx="7804383" cy="1201165"/>
            <a:chOff x="-150756" y="1587"/>
            <a:chExt cx="8278755" cy="1259479"/>
          </a:xfrm>
        </p:grpSpPr>
        <p:sp>
          <p:nvSpPr>
            <p:cNvPr id="203" name="Google Shape;203;p10"/>
            <p:cNvSpPr/>
            <p:nvPr/>
          </p:nvSpPr>
          <p:spPr>
            <a:xfrm>
              <a:off x="3251199" y="1587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3251199" y="159014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Vista principal + login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Control total del sistema</a:t>
              </a:r>
              <a:endParaRPr sz="1300"/>
            </a:p>
            <a:p>
              <a:pPr indent="0" lvl="0" marL="9144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-150756" y="1666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0"/>
          <p:cNvSpPr txBox="1"/>
          <p:nvPr/>
        </p:nvSpPr>
        <p:spPr>
          <a:xfrm>
            <a:off x="4096961" y="5487645"/>
            <a:ext cx="29985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750" lIns="129525" spcFirstLastPara="1" rIns="129525" wrap="square" tIns="647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419" sz="3200">
                <a:solidFill>
                  <a:schemeClr val="lt1"/>
                </a:solidFill>
              </a:rPr>
              <a:t>SuperAdmin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 flipH="1" rot="10800000">
            <a:off x="779275" y="4234351"/>
            <a:ext cx="2692908" cy="9647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10"/>
          <p:cNvGrpSpPr/>
          <p:nvPr/>
        </p:nvGrpSpPr>
        <p:grpSpPr>
          <a:xfrm>
            <a:off x="4030132" y="171600"/>
            <a:ext cx="7790687" cy="5164739"/>
            <a:chOff x="0" y="1587"/>
            <a:chExt cx="8127999" cy="5415475"/>
          </a:xfrm>
        </p:grpSpPr>
        <p:sp>
          <p:nvSpPr>
            <p:cNvPr id="209" name="Google Shape;209;p10"/>
            <p:cNvSpPr/>
            <p:nvPr/>
          </p:nvSpPr>
          <p:spPr>
            <a:xfrm>
              <a:off x="3251199" y="1587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0"/>
            <p:cNvSpPr txBox="1"/>
            <p:nvPr/>
          </p:nvSpPr>
          <p:spPr>
            <a:xfrm>
              <a:off x="3251199" y="159014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Vista principal + login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Formulario de postulaciones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vista de las publicaciones realizadas</a:t>
              </a:r>
              <a:endParaRPr sz="1300"/>
            </a:p>
            <a:p>
              <a:pPr indent="0" lvl="0" marL="9144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0" y="1587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61480" y="63067"/>
              <a:ext cx="3128100" cy="11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s-419" sz="2900">
                  <a:solidFill>
                    <a:schemeClr val="lt1"/>
                  </a:solidFill>
                </a:rPr>
                <a:t>APP web publicador prácticas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3251199" y="1386945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3251199" y="1544372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Vista principal + login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Formulario de datos personales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Apartado de subida de documentos(CV)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9144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0" y="1386945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 txBox="1"/>
            <p:nvPr/>
          </p:nvSpPr>
          <p:spPr>
            <a:xfrm>
              <a:off x="23531" y="1386945"/>
              <a:ext cx="3204000" cy="12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s-419" sz="2900">
                  <a:solidFill>
                    <a:schemeClr val="lt1"/>
                  </a:solidFill>
                </a:rPr>
                <a:t>APP web postulación prácticas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3251199" y="4157662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3251199" y="4315089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-1016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•"/>
              </a:pPr>
              <a:r>
                <a:rPr b="0" i="0" lang="es-419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Modelo entidad-relación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16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•"/>
              </a:pPr>
              <a:r>
                <a:rPr b="0" i="0" lang="es-419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de respaldo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16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SzPts val="1300"/>
                <a:buChar char="•"/>
              </a:pPr>
              <a:r>
                <a:rPr lang="es-419" sz="1300"/>
                <a:t>Almacenamiento de los datos de las empresas y practicantes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0" y="4157662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0"/>
            <p:cNvSpPr txBox="1"/>
            <p:nvPr/>
          </p:nvSpPr>
          <p:spPr>
            <a:xfrm>
              <a:off x="61480" y="4219142"/>
              <a:ext cx="3128100" cy="11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s-419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 de datos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3251199" y="2772304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Publicador de </a:t>
              </a:r>
              <a:r>
                <a:rPr lang="es-419" sz="1300"/>
                <a:t>prácticas para empresas.</a:t>
              </a:r>
              <a:endParaRPr sz="13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Postulación</a:t>
              </a:r>
              <a:r>
                <a:rPr lang="es-419" sz="1300"/>
                <a:t> para estudiantes.</a:t>
              </a:r>
              <a:endParaRPr sz="1300"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0" y="2772304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0"/>
            <p:cNvSpPr txBox="1"/>
            <p:nvPr/>
          </p:nvSpPr>
          <p:spPr>
            <a:xfrm>
              <a:off x="23778" y="2833810"/>
              <a:ext cx="3128100" cy="11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s-419" sz="2700"/>
                <a:t>Portal web practicas</a:t>
              </a:r>
              <a:endPara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0c6dcdfd3_0_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00c6dcdfd3_0_8"/>
          <p:cNvSpPr txBox="1"/>
          <p:nvPr>
            <p:ph type="title"/>
          </p:nvPr>
        </p:nvSpPr>
        <p:spPr>
          <a:xfrm>
            <a:off x="3883800" y="308225"/>
            <a:ext cx="4424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/>
              <a:t>Roadmap del proyecto</a:t>
            </a:r>
            <a:endParaRPr/>
          </a:p>
        </p:txBody>
      </p:sp>
      <p:sp>
        <p:nvSpPr>
          <p:cNvPr id="230" name="Google Shape;230;g300c6dcdfd3_0_8"/>
          <p:cNvSpPr/>
          <p:nvPr/>
        </p:nvSpPr>
        <p:spPr>
          <a:xfrm>
            <a:off x="4357143" y="9050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00c6dcdfd3_0_8" title="Captura de pantalla 2025-09-12 1815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75" y="1121075"/>
            <a:ext cx="11947050" cy="461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752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>
            <p:ph type="title"/>
          </p:nvPr>
        </p:nvSpPr>
        <p:spPr>
          <a:xfrm>
            <a:off x="694025" y="488475"/>
            <a:ext cx="108009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Alcances del Proyecto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358630" y="9531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2958725" y="2576100"/>
            <a:ext cx="42369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21945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419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operará en plataformas</a:t>
            </a:r>
            <a:r>
              <a:rPr lang="es-419" sz="2100">
                <a:solidFill>
                  <a:schemeClr val="dk1"/>
                </a:solidFill>
              </a:rPr>
              <a:t> web responsivas para exploradores y equipos </a:t>
            </a:r>
            <a:r>
              <a:rPr lang="es-419" sz="2100">
                <a:solidFill>
                  <a:schemeClr val="dk1"/>
                </a:solidFill>
              </a:rPr>
              <a:t>móviles</a:t>
            </a:r>
            <a:r>
              <a:rPr b="0" i="0" lang="es-419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1945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s-419" sz="2100">
                <a:solidFill>
                  <a:schemeClr val="dk1"/>
                </a:solidFill>
              </a:rPr>
              <a:t>Las empresas </a:t>
            </a:r>
            <a:r>
              <a:rPr lang="es-419" sz="2100">
                <a:solidFill>
                  <a:schemeClr val="dk1"/>
                </a:solidFill>
              </a:rPr>
              <a:t>podrán</a:t>
            </a:r>
            <a:r>
              <a:rPr lang="es-419" sz="2100">
                <a:solidFill>
                  <a:schemeClr val="dk1"/>
                </a:solidFill>
              </a:rPr>
              <a:t> generar postulaciones de </a:t>
            </a:r>
            <a:r>
              <a:rPr lang="es-419" sz="2100">
                <a:solidFill>
                  <a:schemeClr val="dk1"/>
                </a:solidFill>
              </a:rPr>
              <a:t>prácticas.</a:t>
            </a:r>
            <a:endParaRPr sz="2100">
              <a:solidFill>
                <a:schemeClr val="dk1"/>
              </a:solidFill>
            </a:endParaRPr>
          </a:p>
          <a:p>
            <a:pPr indent="-321945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s-419" sz="2100">
                <a:solidFill>
                  <a:schemeClr val="dk1"/>
                </a:solidFill>
              </a:rPr>
              <a:t>La </a:t>
            </a:r>
            <a:r>
              <a:rPr lang="es-419" sz="2100">
                <a:solidFill>
                  <a:schemeClr val="dk1"/>
                </a:solidFill>
              </a:rPr>
              <a:t>aplicación</a:t>
            </a:r>
            <a:r>
              <a:rPr lang="es-419" sz="2100">
                <a:solidFill>
                  <a:schemeClr val="dk1"/>
                </a:solidFill>
              </a:rPr>
              <a:t>/web admin  para gestionar las postulaciones por parte del </a:t>
            </a:r>
            <a:r>
              <a:rPr lang="es-419" sz="2100">
                <a:solidFill>
                  <a:schemeClr val="dk1"/>
                </a:solidFill>
              </a:rPr>
              <a:t>área</a:t>
            </a:r>
            <a:r>
              <a:rPr lang="es-419" sz="2100">
                <a:solidFill>
                  <a:schemeClr val="dk1"/>
                </a:solidFill>
              </a:rPr>
              <a:t> RRHH y el capacitador.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1945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s-419" sz="2100">
                <a:solidFill>
                  <a:schemeClr val="dk1"/>
                </a:solidFill>
              </a:rPr>
              <a:t>El practicante </a:t>
            </a:r>
            <a:r>
              <a:rPr lang="es-419" sz="2100">
                <a:solidFill>
                  <a:schemeClr val="dk1"/>
                </a:solidFill>
              </a:rPr>
              <a:t>será</a:t>
            </a:r>
            <a:r>
              <a:rPr lang="es-419" sz="2100">
                <a:solidFill>
                  <a:schemeClr val="dk1"/>
                </a:solidFill>
              </a:rPr>
              <a:t> notificado por correo y el estado de su </a:t>
            </a:r>
            <a:r>
              <a:rPr lang="es-419" sz="2100">
                <a:solidFill>
                  <a:schemeClr val="dk1"/>
                </a:solidFill>
              </a:rPr>
              <a:t>postulación</a:t>
            </a:r>
            <a:r>
              <a:rPr lang="es-419" sz="2100">
                <a:solidFill>
                  <a:schemeClr val="dk1"/>
                </a:solidFill>
              </a:rPr>
              <a:t> si es citado o no para entrevista por parte de la empresa.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 txBox="1"/>
          <p:nvPr>
            <p:ph type="title"/>
          </p:nvPr>
        </p:nvSpPr>
        <p:spPr>
          <a:xfrm>
            <a:off x="3624125" y="1541413"/>
            <a:ext cx="2906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latin typeface="Arial"/>
                <a:ea typeface="Arial"/>
                <a:cs typeface="Arial"/>
                <a:sym typeface="Arial"/>
              </a:rPr>
              <a:t>Lo que </a:t>
            </a:r>
            <a:r>
              <a:rPr lang="es-419" sz="2800">
                <a:latin typeface="Arial"/>
                <a:ea typeface="Arial"/>
                <a:cs typeface="Arial"/>
                <a:sym typeface="Arial"/>
              </a:rPr>
              <a:t>hará</a:t>
            </a:r>
            <a:endParaRPr/>
          </a:p>
        </p:txBody>
      </p:sp>
      <p:sp>
        <p:nvSpPr>
          <p:cNvPr id="241" name="Google Shape;241;p11"/>
          <p:cNvSpPr txBox="1"/>
          <p:nvPr>
            <p:ph type="title"/>
          </p:nvPr>
        </p:nvSpPr>
        <p:spPr>
          <a:xfrm>
            <a:off x="7700375" y="1550538"/>
            <a:ext cx="3352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latin typeface="Arial"/>
                <a:ea typeface="Arial"/>
                <a:cs typeface="Arial"/>
                <a:sym typeface="Arial"/>
              </a:rPr>
              <a:t>Lo que no hará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7195625" y="2594350"/>
            <a:ext cx="42369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s-419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</a:t>
            </a:r>
            <a:r>
              <a:rPr lang="es-419" sz="2050">
                <a:solidFill>
                  <a:schemeClr val="dk1"/>
                </a:solidFill>
              </a:rPr>
              <a:t>no </a:t>
            </a:r>
            <a:r>
              <a:rPr lang="es-419" sz="2050">
                <a:solidFill>
                  <a:schemeClr val="dk1"/>
                </a:solidFill>
              </a:rPr>
              <a:t>contará</a:t>
            </a:r>
            <a:r>
              <a:rPr lang="es-419" sz="2050">
                <a:solidFill>
                  <a:schemeClr val="dk1"/>
                </a:solidFill>
              </a:rPr>
              <a:t> con IA.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Soporte del lenguaje inicial </a:t>
            </a:r>
            <a:r>
              <a:rPr lang="es-419" sz="2050">
                <a:solidFill>
                  <a:schemeClr val="dk1"/>
                </a:solidFill>
              </a:rPr>
              <a:t>sólo</a:t>
            </a:r>
            <a:r>
              <a:rPr lang="es-419" sz="2050">
                <a:solidFill>
                  <a:schemeClr val="dk1"/>
                </a:solidFill>
              </a:rPr>
              <a:t> español.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</a:t>
            </a:r>
            <a:r>
              <a:rPr lang="es-419" sz="2050">
                <a:solidFill>
                  <a:schemeClr val="dk1"/>
                </a:solidFill>
              </a:rPr>
              <a:t>contará</a:t>
            </a:r>
            <a:r>
              <a:rPr lang="es-419" sz="2050">
                <a:solidFill>
                  <a:schemeClr val="dk1"/>
                </a:solidFill>
              </a:rPr>
              <a:t> con videollamadas internas, solo links dados por el </a:t>
            </a:r>
            <a:r>
              <a:rPr lang="es-419" sz="2050">
                <a:solidFill>
                  <a:schemeClr val="dk1"/>
                </a:solidFill>
              </a:rPr>
              <a:t>capacitador</a:t>
            </a:r>
            <a:r>
              <a:rPr lang="es-419" sz="2050">
                <a:solidFill>
                  <a:schemeClr val="dk1"/>
                </a:solidFill>
              </a:rPr>
              <a:t>, como zoom.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contará con </a:t>
            </a:r>
            <a:r>
              <a:rPr lang="es-419" sz="2050">
                <a:solidFill>
                  <a:schemeClr val="dk1"/>
                </a:solidFill>
              </a:rPr>
              <a:t>compatibilidad</a:t>
            </a:r>
            <a:r>
              <a:rPr lang="es-419" sz="2050">
                <a:solidFill>
                  <a:schemeClr val="dk1"/>
                </a:solidFill>
              </a:rPr>
              <a:t> con archivos que no sean pdf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</a:t>
            </a:r>
            <a:r>
              <a:rPr lang="es-419" sz="2050">
                <a:solidFill>
                  <a:schemeClr val="dk1"/>
                </a:solidFill>
              </a:rPr>
              <a:t>aceptará</a:t>
            </a:r>
            <a:r>
              <a:rPr lang="es-419" sz="2050">
                <a:solidFill>
                  <a:schemeClr val="dk1"/>
                </a:solidFill>
              </a:rPr>
              <a:t> archivos con peso mayor a 1MB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genera contratos de práctica, solo valida las postulaciones</a:t>
            </a:r>
            <a:endParaRPr sz="205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865363" y="20361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164663" y="20361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238950" y="2594325"/>
            <a:ext cx="2785500" cy="25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419" sz="1600">
                <a:solidFill>
                  <a:schemeClr val="dk1"/>
                </a:solidFill>
              </a:rPr>
              <a:t>El sistema no operará en la nube durante esta etapa, solamente lo hará de manera local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419" sz="1600">
                <a:solidFill>
                  <a:schemeClr val="dk1"/>
                </a:solidFill>
              </a:rPr>
              <a:t>El sistema por ahora solo será desarrollado con tecnologías dominadas por nosotros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6" name="Google Shape;246;p11"/>
          <p:cNvSpPr txBox="1"/>
          <p:nvPr>
            <p:ph type="title"/>
          </p:nvPr>
        </p:nvSpPr>
        <p:spPr>
          <a:xfrm>
            <a:off x="178650" y="1589750"/>
            <a:ext cx="2906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latin typeface="Arial"/>
                <a:ea typeface="Arial"/>
                <a:cs typeface="Arial"/>
                <a:sym typeface="Arial"/>
              </a:rPr>
              <a:t>Limitaciones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19888" y="20361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>
            <p:ph type="title"/>
          </p:nvPr>
        </p:nvSpPr>
        <p:spPr>
          <a:xfrm>
            <a:off x="3562650" y="400050"/>
            <a:ext cx="5066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Tecnologías de Desarrollo</a:t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358643" y="93314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00" y="285750"/>
            <a:ext cx="9829800" cy="6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dbfbcf21c_0_2262"/>
          <p:cNvSpPr/>
          <p:nvPr/>
        </p:nvSpPr>
        <p:spPr>
          <a:xfrm>
            <a:off x="0" y="-16747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7dbfbcf21c_0_2262"/>
          <p:cNvSpPr txBox="1"/>
          <p:nvPr>
            <p:ph type="title"/>
          </p:nvPr>
        </p:nvSpPr>
        <p:spPr>
          <a:xfrm>
            <a:off x="3729000" y="617500"/>
            <a:ext cx="4569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Tecnologías de </a:t>
            </a:r>
            <a:r>
              <a:rPr lang="es-419" sz="2800"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sp>
        <p:nvSpPr>
          <p:cNvPr id="262" name="Google Shape;262;g37dbfbcf21c_0_2262"/>
          <p:cNvSpPr/>
          <p:nvPr/>
        </p:nvSpPr>
        <p:spPr>
          <a:xfrm>
            <a:off x="4358643" y="11505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7dbfbcf21c_0_2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600" y="1085850"/>
            <a:ext cx="100584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0c6dcdfd3_0_3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00c6dcdfd3_0_33"/>
          <p:cNvSpPr txBox="1"/>
          <p:nvPr>
            <p:ph type="title"/>
          </p:nvPr>
        </p:nvSpPr>
        <p:spPr>
          <a:xfrm>
            <a:off x="2651100" y="327025"/>
            <a:ext cx="6886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>
                <a:latin typeface="Arial"/>
                <a:ea typeface="Arial"/>
                <a:cs typeface="Arial"/>
                <a:sym typeface="Arial"/>
              </a:rPr>
              <a:t>Propuesta de diseños iniciales (Caso de uso)</a:t>
            </a:r>
            <a:endParaRPr sz="4700"/>
          </a:p>
        </p:txBody>
      </p:sp>
      <p:pic>
        <p:nvPicPr>
          <p:cNvPr id="270" name="Google Shape;270;g300c6dcdfd3_0_33" title="Captura de pantalla 2025-09-11 1723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625" y="847725"/>
            <a:ext cx="752475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00c6dcdfd3_0_33"/>
          <p:cNvSpPr/>
          <p:nvPr/>
        </p:nvSpPr>
        <p:spPr>
          <a:xfrm>
            <a:off x="4882688" y="69362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00c6dcdfd3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4388" y="777675"/>
            <a:ext cx="9643224" cy="57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beba24151_1_5"/>
          <p:cNvSpPr txBox="1"/>
          <p:nvPr>
            <p:ph type="title"/>
          </p:nvPr>
        </p:nvSpPr>
        <p:spPr>
          <a:xfrm>
            <a:off x="3760950" y="365470"/>
            <a:ext cx="4670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>
                <a:latin typeface="Arial"/>
                <a:ea typeface="Arial"/>
                <a:cs typeface="Arial"/>
                <a:sym typeface="Arial"/>
              </a:rPr>
              <a:t>BPMN- Principal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7beba24151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25" y="1472775"/>
            <a:ext cx="11067923" cy="47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7beba24151_1_5"/>
          <p:cNvSpPr/>
          <p:nvPr/>
        </p:nvSpPr>
        <p:spPr>
          <a:xfrm>
            <a:off x="4884188" y="10464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7beba24151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575" y="1182225"/>
            <a:ext cx="11626849" cy="545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beba24151_1_15"/>
          <p:cNvSpPr txBox="1"/>
          <p:nvPr>
            <p:ph type="title"/>
          </p:nvPr>
        </p:nvSpPr>
        <p:spPr>
          <a:xfrm>
            <a:off x="3760950" y="346748"/>
            <a:ext cx="467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>
                <a:latin typeface="Arial"/>
                <a:ea typeface="Arial"/>
                <a:cs typeface="Arial"/>
                <a:sym typeface="Arial"/>
              </a:rPr>
              <a:t>Modelo Base de Datos</a:t>
            </a:r>
            <a:endParaRPr sz="4700"/>
          </a:p>
        </p:txBody>
      </p:sp>
      <p:sp>
        <p:nvSpPr>
          <p:cNvPr id="288" name="Google Shape;288;g37beba24151_1_15"/>
          <p:cNvSpPr/>
          <p:nvPr/>
        </p:nvSpPr>
        <p:spPr>
          <a:xfrm>
            <a:off x="4797488" y="816846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7beba24151_1_15" title="Captura de pantalla 2025-09-12 1638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7534"/>
            <a:ext cx="11887201" cy="524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beba24151_1_23"/>
          <p:cNvSpPr txBox="1"/>
          <p:nvPr>
            <p:ph type="title"/>
          </p:nvPr>
        </p:nvSpPr>
        <p:spPr>
          <a:xfrm>
            <a:off x="3760950" y="443048"/>
            <a:ext cx="46701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/>
              <a:t>Mockup (</a:t>
            </a:r>
            <a:r>
              <a:rPr lang="es-419" sz="2300"/>
              <a:t>Página</a:t>
            </a:r>
            <a:r>
              <a:rPr lang="es-419" sz="2300"/>
              <a:t> Principal)</a:t>
            </a:r>
            <a:endParaRPr sz="4700"/>
          </a:p>
        </p:txBody>
      </p:sp>
      <p:sp>
        <p:nvSpPr>
          <p:cNvPr id="296" name="Google Shape;296;g37beba24151_1_23"/>
          <p:cNvSpPr/>
          <p:nvPr/>
        </p:nvSpPr>
        <p:spPr>
          <a:xfrm>
            <a:off x="4884188" y="863346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7beba24151_1_23" title="Captura de pantalla 2025-09-12 1732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4034"/>
            <a:ext cx="11887200" cy="564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beba24151_1_1082"/>
          <p:cNvSpPr txBox="1"/>
          <p:nvPr>
            <p:ph type="title"/>
          </p:nvPr>
        </p:nvSpPr>
        <p:spPr>
          <a:xfrm>
            <a:off x="4914900" y="404875"/>
            <a:ext cx="2362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607"/>
              <a:buNone/>
            </a:pPr>
            <a:r>
              <a:rPr lang="es-419">
                <a:solidFill>
                  <a:schemeClr val="lt1"/>
                </a:solidFill>
              </a:rPr>
              <a:t>Conclusión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2023-03-15T01:31:11Z</dcterms:created>
  <dc:creator>Christian Lazcano</dc:creator>
</cp:coreProperties>
</file>