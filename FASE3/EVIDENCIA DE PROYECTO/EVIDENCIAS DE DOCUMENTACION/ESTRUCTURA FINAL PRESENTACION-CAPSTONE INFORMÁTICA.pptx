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11309350" cx="20104100"/>
  <p:notesSz cx="20104100" cy="11309350"/>
  <p:embeddedFontLst>
    <p:embeddedFont>
      <p:font typeface="Barlow Condensed"/>
      <p:regular r:id="rId34"/>
      <p:bold r:id="rId35"/>
      <p:italic r:id="rId36"/>
      <p:boldItalic r:id="rId37"/>
    </p:embeddedFont>
    <p:embeddedFont>
      <p:font typeface="Arial Black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hd0D3q5gFMgS/C+MDsQc7jhnn9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4BF30C-8229-4702-902D-84ED69B772E1}">
  <a:tblStyle styleId="{444BF30C-8229-4702-902D-84ED69B772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BarlowCondensed-bold.fntdata"/><Relationship Id="rId12" Type="http://schemas.openxmlformats.org/officeDocument/2006/relationships/slide" Target="slides/slide6.xml"/><Relationship Id="rId34" Type="http://schemas.openxmlformats.org/officeDocument/2006/relationships/font" Target="fonts/BarlowCondensed-regular.fntdata"/><Relationship Id="rId15" Type="http://schemas.openxmlformats.org/officeDocument/2006/relationships/slide" Target="slides/slide9.xml"/><Relationship Id="rId37" Type="http://schemas.openxmlformats.org/officeDocument/2006/relationships/font" Target="fonts/BarlowCondensed-boldItalic.fntdata"/><Relationship Id="rId14" Type="http://schemas.openxmlformats.org/officeDocument/2006/relationships/slide" Target="slides/slide8.xml"/><Relationship Id="rId36" Type="http://schemas.openxmlformats.org/officeDocument/2006/relationships/font" Target="fonts/BarlowCondensed-italic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ArialBlack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cd72a1df_0_1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a1cd72a1df_0_16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1cd72a1df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a1cd72a1df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1d32738e2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a1d32738e2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9046b8d99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99046b8d99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89491434a_0_212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989491434a_0_212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4b9596d6e_0_3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a4b9596d6e_0_3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91c489733_0_19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991c489733_0_19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9046b8d99_0_5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99046b8d99_0_5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19caba1fe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a19caba1fe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9046b8d99_0_1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99046b8d99_0_1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19d2cdb69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a19d2cdb69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91c489733_0_32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991c489733_0_32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91c489733_0_37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991c489733_0_37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91c489733_0_43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991c489733_0_43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d3f7fb9b5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ad3f7fb9b5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2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/>
          <p:nvPr/>
        </p:nvSpPr>
        <p:spPr>
          <a:xfrm>
            <a:off x="-6350" y="656116"/>
            <a:ext cx="2243455" cy="1060450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16938421" y="10202309"/>
            <a:ext cx="1576070" cy="511175"/>
          </a:xfrm>
          <a:custGeom>
            <a:rect b="b" l="l" r="r" t="t"/>
            <a:pathLst>
              <a:path extrusionOk="0" h="511175" w="1576069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69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69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69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18623540" y="10245307"/>
            <a:ext cx="378460" cy="469900"/>
          </a:xfrm>
          <a:custGeom>
            <a:rect b="b" l="l" r="r" t="t"/>
            <a:pathLst>
              <a:path extrusionOk="0" h="469900" w="378459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18"/>
          <p:cNvGrpSpPr/>
          <p:nvPr/>
        </p:nvGrpSpPr>
        <p:grpSpPr>
          <a:xfrm>
            <a:off x="19053919" y="10117702"/>
            <a:ext cx="427015" cy="597582"/>
            <a:chOff x="19053919" y="10117702"/>
            <a:chExt cx="427015" cy="597582"/>
          </a:xfrm>
        </p:grpSpPr>
        <p:sp>
          <p:nvSpPr>
            <p:cNvPr id="21" name="Google Shape;21;p18"/>
            <p:cNvSpPr/>
            <p:nvPr/>
          </p:nvSpPr>
          <p:spPr>
            <a:xfrm>
              <a:off x="19053919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9"/>
          <p:cNvSpPr txBox="1"/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subTitle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/>
          <p:nvPr/>
        </p:nvSpPr>
        <p:spPr>
          <a:xfrm>
            <a:off x="2838209" y="9464675"/>
            <a:ext cx="8841105" cy="0"/>
          </a:xfrm>
          <a:custGeom>
            <a:rect b="b" l="l" r="r" t="t"/>
            <a:pathLst>
              <a:path extrusionOk="0" h="120000"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0"/>
          <p:cNvSpPr txBox="1"/>
          <p:nvPr>
            <p:ph type="title"/>
          </p:nvPr>
        </p:nvSpPr>
        <p:spPr>
          <a:xfrm>
            <a:off x="6851650" y="74834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type="title"/>
          </p:nvPr>
        </p:nvSpPr>
        <p:spPr>
          <a:xfrm>
            <a:off x="4794250" y="69500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40"/>
            <a:ext cx="20109342" cy="1130561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2"/>
          <p:cNvSpPr/>
          <p:nvPr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2"/>
          <p:cNvSpPr txBox="1"/>
          <p:nvPr>
            <p:ph type="title"/>
          </p:nvPr>
        </p:nvSpPr>
        <p:spPr>
          <a:xfrm>
            <a:off x="1184428" y="65914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/>
          <p:nvPr/>
        </p:nvSpPr>
        <p:spPr>
          <a:xfrm>
            <a:off x="727227" y="10202309"/>
            <a:ext cx="1576070" cy="511175"/>
          </a:xfrm>
          <a:custGeom>
            <a:rect b="b" l="l" r="r" t="t"/>
            <a:pathLst>
              <a:path extrusionOk="0" h="511175" w="157607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7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7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7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3"/>
          <p:cNvSpPr/>
          <p:nvPr/>
        </p:nvSpPr>
        <p:spPr>
          <a:xfrm>
            <a:off x="2412348" y="10245307"/>
            <a:ext cx="378460" cy="469900"/>
          </a:xfrm>
          <a:custGeom>
            <a:rect b="b" l="l" r="r" t="t"/>
            <a:pathLst>
              <a:path extrusionOk="0" h="469900" w="37846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3"/>
          <p:cNvGrpSpPr/>
          <p:nvPr/>
        </p:nvGrpSpPr>
        <p:grpSpPr>
          <a:xfrm>
            <a:off x="2842727" y="10117702"/>
            <a:ext cx="427015" cy="597582"/>
            <a:chOff x="2842727" y="10117702"/>
            <a:chExt cx="427015" cy="597582"/>
          </a:xfrm>
        </p:grpSpPr>
        <p:sp>
          <p:nvSpPr>
            <p:cNvPr id="43" name="Google Shape;43;p23"/>
            <p:cNvSpPr/>
            <p:nvPr/>
          </p:nvSpPr>
          <p:spPr>
            <a:xfrm>
              <a:off x="2842727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" name="Google Shape;4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23"/>
          <p:cNvSpPr/>
          <p:nvPr/>
        </p:nvSpPr>
        <p:spPr>
          <a:xfrm>
            <a:off x="17840597" y="656116"/>
            <a:ext cx="2243455" cy="1060450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seño personalizado">
  <p:cSld name="5_Diseño personaliza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340"/>
            <a:ext cx="20110047" cy="1130601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 txBox="1"/>
          <p:nvPr>
            <p:ph type="title"/>
          </p:nvPr>
        </p:nvSpPr>
        <p:spPr>
          <a:xfrm>
            <a:off x="831850" y="71786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/>
          <p:nvPr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5"/>
          <p:cNvSpPr txBox="1"/>
          <p:nvPr>
            <p:ph type="title"/>
          </p:nvPr>
        </p:nvSpPr>
        <p:spPr>
          <a:xfrm>
            <a:off x="7661428" y="8207476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6"/>
          <p:cNvSpPr/>
          <p:nvPr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6"/>
          <p:cNvSpPr txBox="1"/>
          <p:nvPr>
            <p:ph type="title"/>
          </p:nvPr>
        </p:nvSpPr>
        <p:spPr>
          <a:xfrm>
            <a:off x="4842028" y="45340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7"/>
          <p:cNvSpPr/>
          <p:nvPr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7"/>
          <p:cNvSpPr txBox="1"/>
          <p:nvPr>
            <p:ph type="title"/>
          </p:nvPr>
        </p:nvSpPr>
        <p:spPr>
          <a:xfrm>
            <a:off x="7432828" y="76582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8"/>
          <p:cNvSpPr txBox="1"/>
          <p:nvPr>
            <p:ph type="title"/>
          </p:nvPr>
        </p:nvSpPr>
        <p:spPr>
          <a:xfrm>
            <a:off x="6623050" y="70262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 showMasterSp="0">
  <p:cSld name="Six columns of text 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989491434a_0_2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299382" y="10273608"/>
            <a:ext cx="5743706" cy="117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989491434a_0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5862" y="10412089"/>
            <a:ext cx="2722153" cy="830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5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39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50.png"/><Relationship Id="rId9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Relationship Id="rId7" Type="http://schemas.openxmlformats.org/officeDocument/2006/relationships/image" Target="../media/image40.png"/><Relationship Id="rId8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49.png"/><Relationship Id="rId5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52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Relationship Id="rId4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1bEg-_S-F00nBUksVBrXpOXbwgIpaw1k/view" TargetMode="External"/><Relationship Id="rId4" Type="http://schemas.openxmlformats.org/officeDocument/2006/relationships/image" Target="../media/image4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ctrTitle"/>
          </p:nvPr>
        </p:nvSpPr>
        <p:spPr>
          <a:xfrm>
            <a:off x="3308349" y="8626475"/>
            <a:ext cx="87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4800"/>
              <a:t>SimuTech</a:t>
            </a:r>
            <a:endParaRPr sz="4800"/>
          </a:p>
        </p:txBody>
      </p:sp>
      <p:sp>
        <p:nvSpPr>
          <p:cNvPr id="78" name="Google Shape;78;p3"/>
          <p:cNvSpPr txBox="1"/>
          <p:nvPr>
            <p:ph idx="1" type="subTitle"/>
          </p:nvPr>
        </p:nvSpPr>
        <p:spPr>
          <a:xfrm>
            <a:off x="3727450" y="9617075"/>
            <a:ext cx="79113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L"/>
              <a:t>Matias Marchant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L"/>
              <a:t>Adan Sagurie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				Maipú, </a:t>
            </a:r>
            <a:r>
              <a:rPr b="1" lang="es-CL"/>
              <a:t>18</a:t>
            </a: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/>
              <a:t>Noviembre</a:t>
            </a: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b="1" lang="es-CL"/>
              <a:t>5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4014450" y="3444875"/>
            <a:ext cx="488787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1cd72a1df_0_16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Integrantes</a:t>
            </a:r>
            <a:endParaRPr/>
          </a:p>
        </p:txBody>
      </p:sp>
      <p:pic>
        <p:nvPicPr>
          <p:cNvPr id="85" name="Google Shape;85;g3a1cd72a1d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613" y="2340834"/>
            <a:ext cx="3752085" cy="326600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a1cd72a1df_0_16"/>
          <p:cNvSpPr txBox="1"/>
          <p:nvPr/>
        </p:nvSpPr>
        <p:spPr>
          <a:xfrm>
            <a:off x="5279940" y="6032426"/>
            <a:ext cx="36492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75" lIns="156775" spcFirstLastPara="1" rIns="156775" wrap="square" tIns="15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Matias Marchant.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Desarrollador y PO.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 los fundadores de SimuTech. Certificado en Programación de Software y scrum.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7" name="Google Shape;87;g3a1cd72a1df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7834" y="2340825"/>
            <a:ext cx="2887353" cy="32660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a1cd72a1df_0_16"/>
          <p:cNvSpPr txBox="1"/>
          <p:nvPr/>
        </p:nvSpPr>
        <p:spPr>
          <a:xfrm>
            <a:off x="10710775" y="6032425"/>
            <a:ext cx="4400700" cy="21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75" lIns="156775" spcFirstLastPara="1" rIns="156775" wrap="square" tIns="156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Adan Sagurie 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Desarrollador y SCM.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 los</a:t>
            </a:r>
            <a:r>
              <a:rPr lang="es-CL" sz="2400">
                <a:latin typeface="Barlow Condensed"/>
                <a:ea typeface="Barlow Condensed"/>
                <a:cs typeface="Barlow Condensed"/>
                <a:sym typeface="Barlow Condensed"/>
              </a:rPr>
              <a:t> f</a:t>
            </a: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undadores de </a:t>
            </a:r>
            <a:r>
              <a:rPr lang="es-CL" sz="24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SimuTech.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latin typeface="Barlow Condensed"/>
                <a:ea typeface="Barlow Condensed"/>
                <a:cs typeface="Barlow Condensed"/>
                <a:sym typeface="Barlow Condensed"/>
              </a:rPr>
              <a:t>C</a:t>
            </a: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ertificado de</a:t>
            </a:r>
            <a:r>
              <a:rPr lang="es-CL" sz="2400">
                <a:latin typeface="Barlow Condensed"/>
                <a:ea typeface="Barlow Condensed"/>
                <a:cs typeface="Barlow Condensed"/>
                <a:sym typeface="Barlow Condensed"/>
              </a:rPr>
              <a:t> P</a:t>
            </a: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rogramación móvil y certiprof scrum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1cd72a1df_0_0"/>
          <p:cNvSpPr/>
          <p:nvPr/>
        </p:nvSpPr>
        <p:spPr>
          <a:xfrm>
            <a:off x="9518650" y="1191375"/>
            <a:ext cx="535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a1cd72a1df_0_0"/>
          <p:cNvSpPr txBox="1"/>
          <p:nvPr/>
        </p:nvSpPr>
        <p:spPr>
          <a:xfrm>
            <a:off x="9518650" y="2548964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a1cd72a1df_0_0"/>
          <p:cNvSpPr txBox="1"/>
          <p:nvPr/>
        </p:nvSpPr>
        <p:spPr>
          <a:xfrm>
            <a:off x="9617262" y="5554652"/>
            <a:ext cx="45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a1cd72a1df_0_0"/>
          <p:cNvSpPr txBox="1"/>
          <p:nvPr/>
        </p:nvSpPr>
        <p:spPr>
          <a:xfrm>
            <a:off x="14771968" y="3310964"/>
            <a:ext cx="4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Tecnologías</a:t>
            </a:r>
            <a:r>
              <a:rPr b="1" lang="es-CL" sz="3000">
                <a:solidFill>
                  <a:schemeClr val="dk1"/>
                </a:solidFill>
              </a:rPr>
              <a:t>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a1cd72a1df_0_0"/>
          <p:cNvSpPr txBox="1"/>
          <p:nvPr/>
        </p:nvSpPr>
        <p:spPr>
          <a:xfrm>
            <a:off x="9518650" y="4792652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a1cd72a1df_0_0"/>
          <p:cNvSpPr txBox="1"/>
          <p:nvPr/>
        </p:nvSpPr>
        <p:spPr>
          <a:xfrm>
            <a:off x="14656174" y="2548964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a1cd72a1df_0_0"/>
          <p:cNvSpPr txBox="1"/>
          <p:nvPr/>
        </p:nvSpPr>
        <p:spPr>
          <a:xfrm>
            <a:off x="9617262" y="7723256"/>
            <a:ext cx="416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a1cd72a1df_0_0"/>
          <p:cNvSpPr txBox="1"/>
          <p:nvPr/>
        </p:nvSpPr>
        <p:spPr>
          <a:xfrm>
            <a:off x="14779065" y="5554652"/>
            <a:ext cx="41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Etapas de </a:t>
            </a:r>
            <a:r>
              <a:rPr b="1" lang="es-CL" sz="3000">
                <a:solidFill>
                  <a:schemeClr val="dk1"/>
                </a:solidFill>
              </a:rPr>
              <a:t>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a1cd72a1df_0_0"/>
          <p:cNvSpPr txBox="1"/>
          <p:nvPr/>
        </p:nvSpPr>
        <p:spPr>
          <a:xfrm>
            <a:off x="9617262" y="6961256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a1cd72a1df_0_0"/>
          <p:cNvSpPr txBox="1"/>
          <p:nvPr/>
        </p:nvSpPr>
        <p:spPr>
          <a:xfrm>
            <a:off x="14656174" y="4792652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a1cd72a1df_0_0"/>
          <p:cNvSpPr txBox="1"/>
          <p:nvPr/>
        </p:nvSpPr>
        <p:spPr>
          <a:xfrm>
            <a:off x="9617262" y="3310963"/>
            <a:ext cx="45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Problemática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a1cd72a1df_0_0"/>
          <p:cNvSpPr txBox="1"/>
          <p:nvPr/>
        </p:nvSpPr>
        <p:spPr>
          <a:xfrm>
            <a:off x="14779065" y="7637010"/>
            <a:ext cx="41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Muestra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a1cd72a1df_0_0"/>
          <p:cNvSpPr txBox="1"/>
          <p:nvPr/>
        </p:nvSpPr>
        <p:spPr>
          <a:xfrm>
            <a:off x="14656174" y="6875010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a1cd72a1df_0_0"/>
          <p:cNvSpPr txBox="1"/>
          <p:nvPr/>
        </p:nvSpPr>
        <p:spPr>
          <a:xfrm>
            <a:off x="9617262" y="9275981"/>
            <a:ext cx="416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Propuesta técnica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07" name="Google Shape;107;g3a1cd72a1df_0_0"/>
          <p:cNvSpPr txBox="1"/>
          <p:nvPr/>
        </p:nvSpPr>
        <p:spPr>
          <a:xfrm>
            <a:off x="9617262" y="8513981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1cd72a1df_0_0"/>
          <p:cNvSpPr txBox="1"/>
          <p:nvPr/>
        </p:nvSpPr>
        <p:spPr>
          <a:xfrm>
            <a:off x="14901965" y="9275985"/>
            <a:ext cx="41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Retrospectiva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a1cd72a1df_0_0"/>
          <p:cNvSpPr txBox="1"/>
          <p:nvPr/>
        </p:nvSpPr>
        <p:spPr>
          <a:xfrm>
            <a:off x="14779074" y="8513985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4413250" y="7559675"/>
            <a:ext cx="1013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Problemática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d32738e2_0_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Problemática</a:t>
            </a:r>
            <a:r>
              <a:rPr lang="es-CL"/>
              <a:t> y cliente referente</a:t>
            </a:r>
            <a:endParaRPr/>
          </a:p>
        </p:txBody>
      </p:sp>
      <p:pic>
        <p:nvPicPr>
          <p:cNvPr id="121" name="Google Shape;121;g3a1d32738e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9225" y="2222262"/>
            <a:ext cx="8486050" cy="6864825"/>
          </a:xfrm>
          <a:prstGeom prst="rect">
            <a:avLst/>
          </a:prstGeom>
          <a:solidFill>
            <a:srgbClr val="01AFD1"/>
          </a:solidFill>
          <a:ln>
            <a:noFill/>
          </a:ln>
        </p:spPr>
      </p:pic>
      <p:pic>
        <p:nvPicPr>
          <p:cNvPr id="122" name="Google Shape;122;g3a1d32738e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9200" y="1148113"/>
            <a:ext cx="6265225" cy="90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a1d32738e2_0_0"/>
          <p:cNvSpPr txBox="1"/>
          <p:nvPr>
            <p:ph idx="1" type="body"/>
          </p:nvPr>
        </p:nvSpPr>
        <p:spPr>
          <a:xfrm>
            <a:off x="2987227" y="10654854"/>
            <a:ext cx="1679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800"/>
              <a:t>https://www.insidehighered.com/news/student-success/life-after-college/2025/07/25/students-see-internships-must-haves</a:t>
            </a:r>
            <a:endParaRPr sz="1800"/>
          </a:p>
        </p:txBody>
      </p:sp>
      <p:sp>
        <p:nvSpPr>
          <p:cNvPr id="124" name="Google Shape;124;g3a1d32738e2_0_0"/>
          <p:cNvSpPr txBox="1"/>
          <p:nvPr>
            <p:ph idx="1" type="body"/>
          </p:nvPr>
        </p:nvSpPr>
        <p:spPr>
          <a:xfrm>
            <a:off x="3779650" y="10377650"/>
            <a:ext cx="1600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800"/>
              <a:t>https://www.gallup.com/education/509468/four-college-students-internship-experience.aspx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9046b8d99_0_0"/>
          <p:cNvSpPr txBox="1"/>
          <p:nvPr>
            <p:ph type="title"/>
          </p:nvPr>
        </p:nvSpPr>
        <p:spPr>
          <a:xfrm>
            <a:off x="4413250" y="7559675"/>
            <a:ext cx="1013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Solución a la problemática</a:t>
            </a:r>
            <a:endParaRPr/>
          </a:p>
        </p:txBody>
      </p:sp>
      <p:sp>
        <p:nvSpPr>
          <p:cNvPr id="130" name="Google Shape;130;g399046b8d99_0_0"/>
          <p:cNvSpPr txBox="1"/>
          <p:nvPr/>
        </p:nvSpPr>
        <p:spPr>
          <a:xfrm>
            <a:off x="12677531" y="6082347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9491434a_0_212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Solución</a:t>
            </a:r>
            <a:endParaRPr/>
          </a:p>
        </p:txBody>
      </p:sp>
      <p:pic>
        <p:nvPicPr>
          <p:cNvPr id="136" name="Google Shape;136;g3989491434a_0_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138" y="-197512"/>
            <a:ext cx="15073825" cy="1170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4b9596d6e_0_3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Modelo Canvas</a:t>
            </a:r>
            <a:endParaRPr/>
          </a:p>
        </p:txBody>
      </p:sp>
      <p:sp>
        <p:nvSpPr>
          <p:cNvPr id="142" name="Google Shape;142;g3a4b9596d6e_0_3"/>
          <p:cNvSpPr/>
          <p:nvPr/>
        </p:nvSpPr>
        <p:spPr>
          <a:xfrm>
            <a:off x="386570" y="1884974"/>
            <a:ext cx="19365300" cy="7686900"/>
          </a:xfrm>
          <a:prstGeom prst="rect">
            <a:avLst/>
          </a:prstGeom>
          <a:noFill/>
          <a:ln cap="flat" cmpd="sng" w="38400">
            <a:solidFill>
              <a:srgbClr val="3737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a4b9596d6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500" y="5285575"/>
            <a:ext cx="3768250" cy="20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, Rectángulo&#10;&#10;Descripción generada automáticamente" id="144" name="Google Shape;144;g3a4b9596d6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2866" y="8126482"/>
            <a:ext cx="8432202" cy="1281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, Cuadrado&#10;&#10;Descripción generada automáticamente" id="145" name="Google Shape;145;g3a4b9596d6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55259" y="5384463"/>
            <a:ext cx="3299266" cy="17023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, Rectángulo&#10;&#10;Descripción generada automáticamente" id="146" name="Google Shape;146;g3a4b9596d6e_0_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24825" y="2687863"/>
            <a:ext cx="3601200" cy="218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a4b9596d6e_0_3"/>
          <p:cNvSpPr txBox="1"/>
          <p:nvPr/>
        </p:nvSpPr>
        <p:spPr>
          <a:xfrm>
            <a:off x="12581532" y="3084753"/>
            <a:ext cx="4848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250" lIns="184250" spcFirstLastPara="1" rIns="184250" wrap="square" tIns="18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, Rectángulo&#10;&#10;Descripción generada automáticamente" id="148" name="Google Shape;148;g3a4b9596d6e_0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746" y="7993639"/>
            <a:ext cx="8914341" cy="12938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g3a4b9596d6e_0_3"/>
          <p:cNvCxnSpPr/>
          <p:nvPr/>
        </p:nvCxnSpPr>
        <p:spPr>
          <a:xfrm flipH="1" rot="10800000">
            <a:off x="386585" y="7329710"/>
            <a:ext cx="19365300" cy="21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g3a4b9596d6e_0_3"/>
          <p:cNvCxnSpPr/>
          <p:nvPr/>
        </p:nvCxnSpPr>
        <p:spPr>
          <a:xfrm flipH="1" rot="10800000">
            <a:off x="10069253" y="7312068"/>
            <a:ext cx="2100" cy="22599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g3a4b9596d6e_0_3"/>
          <p:cNvCxnSpPr/>
          <p:nvPr/>
        </p:nvCxnSpPr>
        <p:spPr>
          <a:xfrm>
            <a:off x="3975748" y="1872021"/>
            <a:ext cx="0" cy="54579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g3a4b9596d6e_0_3"/>
          <p:cNvCxnSpPr/>
          <p:nvPr/>
        </p:nvCxnSpPr>
        <p:spPr>
          <a:xfrm>
            <a:off x="8003458" y="1884984"/>
            <a:ext cx="27600" cy="54450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g3a4b9596d6e_0_3"/>
          <p:cNvCxnSpPr/>
          <p:nvPr/>
        </p:nvCxnSpPr>
        <p:spPr>
          <a:xfrm>
            <a:off x="11847112" y="1882232"/>
            <a:ext cx="0" cy="54474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g3a4b9596d6e_0_3"/>
          <p:cNvCxnSpPr/>
          <p:nvPr/>
        </p:nvCxnSpPr>
        <p:spPr>
          <a:xfrm>
            <a:off x="16192111" y="1870339"/>
            <a:ext cx="0" cy="54594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g3a4b9596d6e_0_3"/>
          <p:cNvCxnSpPr/>
          <p:nvPr/>
        </p:nvCxnSpPr>
        <p:spPr>
          <a:xfrm>
            <a:off x="11847475" y="4683839"/>
            <a:ext cx="4334700" cy="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g3a4b9596d6e_0_3"/>
          <p:cNvCxnSpPr/>
          <p:nvPr/>
        </p:nvCxnSpPr>
        <p:spPr>
          <a:xfrm>
            <a:off x="3993053" y="4683839"/>
            <a:ext cx="4028100" cy="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g3a4b9596d6e_0_3"/>
          <p:cNvSpPr txBox="1"/>
          <p:nvPr/>
        </p:nvSpPr>
        <p:spPr>
          <a:xfrm>
            <a:off x="406358" y="1961900"/>
            <a:ext cx="36012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PROBLEMAS DEL CLIENTE/USUARIO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a4b9596d6e_0_3"/>
          <p:cNvSpPr txBox="1"/>
          <p:nvPr/>
        </p:nvSpPr>
        <p:spPr>
          <a:xfrm>
            <a:off x="3986163" y="1961907"/>
            <a:ext cx="4024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a4b9596d6e_0_3"/>
          <p:cNvSpPr txBox="1"/>
          <p:nvPr/>
        </p:nvSpPr>
        <p:spPr>
          <a:xfrm>
            <a:off x="3999208" y="4543271"/>
            <a:ext cx="40062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MÉTRICAS CLAVES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a4b9596d6e_0_3"/>
          <p:cNvSpPr txBox="1"/>
          <p:nvPr/>
        </p:nvSpPr>
        <p:spPr>
          <a:xfrm>
            <a:off x="8020766" y="1970541"/>
            <a:ext cx="38202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PROPUESTA ÚNICA DE VALOR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a4b9596d6e_0_3"/>
          <p:cNvSpPr txBox="1"/>
          <p:nvPr/>
        </p:nvSpPr>
        <p:spPr>
          <a:xfrm>
            <a:off x="11850922" y="1864447"/>
            <a:ext cx="43545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VENTAJA INIGUALABLE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a4b9596d6e_0_3"/>
          <p:cNvSpPr txBox="1"/>
          <p:nvPr/>
        </p:nvSpPr>
        <p:spPr>
          <a:xfrm>
            <a:off x="16182250" y="2008173"/>
            <a:ext cx="35460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ADOPTANTE TEMPRANO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a4b9596d6e_0_3"/>
          <p:cNvSpPr txBox="1"/>
          <p:nvPr/>
        </p:nvSpPr>
        <p:spPr>
          <a:xfrm>
            <a:off x="11857219" y="4654792"/>
            <a:ext cx="4162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9) CANALES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a4b9596d6e_0_3"/>
          <p:cNvSpPr txBox="1"/>
          <p:nvPr/>
        </p:nvSpPr>
        <p:spPr>
          <a:xfrm>
            <a:off x="443692" y="7214989"/>
            <a:ext cx="7849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ESTRUCTURA SIMPLE DE COSTOS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a4b9596d6e_0_3"/>
          <p:cNvSpPr txBox="1"/>
          <p:nvPr/>
        </p:nvSpPr>
        <p:spPr>
          <a:xfrm>
            <a:off x="10095419" y="7319407"/>
            <a:ext cx="6249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MECANISMO DE INGRESOS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4b9596d6e_0_3"/>
          <p:cNvSpPr txBox="1"/>
          <p:nvPr/>
        </p:nvSpPr>
        <p:spPr>
          <a:xfrm>
            <a:off x="12916600" y="3336072"/>
            <a:ext cx="4848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250" lIns="184250" spcFirstLastPara="1" rIns="184250" wrap="square" tIns="18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4b9596d6e_0_3"/>
          <p:cNvSpPr/>
          <p:nvPr/>
        </p:nvSpPr>
        <p:spPr>
          <a:xfrm>
            <a:off x="413147" y="6107155"/>
            <a:ext cx="3870300" cy="1064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2100" lIns="184250" spcFirstLastPara="1" rIns="184250" wrap="square" tIns="92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3 Competidores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g3a4b9596d6e_0_3"/>
          <p:cNvCxnSpPr/>
          <p:nvPr/>
        </p:nvCxnSpPr>
        <p:spPr>
          <a:xfrm>
            <a:off x="352234" y="5937251"/>
            <a:ext cx="3523500" cy="12000"/>
          </a:xfrm>
          <a:prstGeom prst="straightConnector1">
            <a:avLst/>
          </a:prstGeom>
          <a:noFill/>
          <a:ln cap="flat" cmpd="sng" w="19200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9" name="Google Shape;169;g3a4b9596d6e_0_3"/>
          <p:cNvSpPr txBox="1"/>
          <p:nvPr/>
        </p:nvSpPr>
        <p:spPr>
          <a:xfrm>
            <a:off x="13251668" y="3587391"/>
            <a:ext cx="4848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250" lIns="184250" spcFirstLastPara="1" rIns="184250" wrap="square" tIns="18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, Cuadrado&#10;&#10;Descripción generada automáticamente" id="170" name="Google Shape;170;g3a4b9596d6e_0_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530" y="3093860"/>
            <a:ext cx="3115263" cy="4007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, Cuadrado&#10;&#10;Descripción generada automáticamente" id="171" name="Google Shape;171;g3a4b9596d6e_0_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28876" y="3066884"/>
            <a:ext cx="3820636" cy="37300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g3a4b9596d6e_0_3"/>
          <p:cNvGrpSpPr/>
          <p:nvPr/>
        </p:nvGrpSpPr>
        <p:grpSpPr>
          <a:xfrm>
            <a:off x="16685126" y="2945371"/>
            <a:ext cx="2790703" cy="2777189"/>
            <a:chOff x="7547113" y="1084913"/>
            <a:chExt cx="1276333" cy="1190496"/>
          </a:xfrm>
        </p:grpSpPr>
        <p:pic>
          <p:nvPicPr>
            <p:cNvPr id="173" name="Google Shape;173;g3a4b9596d6e_0_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47113" y="1084913"/>
              <a:ext cx="1276333" cy="1190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g3a4b9596d6e_0_3"/>
            <p:cNvSpPr txBox="1"/>
            <p:nvPr/>
          </p:nvSpPr>
          <p:spPr>
            <a:xfrm>
              <a:off x="7639231" y="1144654"/>
              <a:ext cx="1132500" cy="10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250" lIns="184250" spcFirstLastPara="1" rIns="184250" wrap="square" tIns="184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g3a4b9596d6e_0_3"/>
          <p:cNvGrpSpPr/>
          <p:nvPr/>
        </p:nvGrpSpPr>
        <p:grpSpPr>
          <a:xfrm>
            <a:off x="3933668" y="2771553"/>
            <a:ext cx="3926276" cy="1791487"/>
            <a:chOff x="1746948" y="995571"/>
            <a:chExt cx="1790286" cy="1389719"/>
          </a:xfrm>
        </p:grpSpPr>
        <p:pic>
          <p:nvPicPr>
            <p:cNvPr id="176" name="Google Shape;176;g3a4b9596d6e_0_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46948" y="995571"/>
              <a:ext cx="1790286" cy="13897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g3a4b9596d6e_0_3"/>
            <p:cNvSpPr txBox="1"/>
            <p:nvPr/>
          </p:nvSpPr>
          <p:spPr>
            <a:xfrm>
              <a:off x="2003853" y="1297542"/>
              <a:ext cx="1361100" cy="9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250" lIns="184250" spcFirstLastPara="1" rIns="184250" wrap="square" tIns="18425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s-CL" sz="1200">
                  <a:solidFill>
                    <a:schemeClr val="dk1"/>
                  </a:solidFill>
                </a:rPr>
                <a:t>Publicador de prácticas para empresas.</a:t>
              </a:r>
              <a:br>
                <a:rPr lang="es-CL" sz="1200">
                  <a:solidFill>
                    <a:schemeClr val="dk1"/>
                  </a:solidFill>
                </a:rPr>
              </a:br>
              <a:endParaRPr sz="1200">
                <a:solidFill>
                  <a:schemeClr val="dk1"/>
                </a:solidFill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s-CL" sz="1200">
                  <a:solidFill>
                    <a:schemeClr val="dk1"/>
                  </a:solidFill>
                </a:rPr>
                <a:t>Buscador y postulador de prácticas para estudiantes.</a:t>
              </a:r>
              <a:br>
                <a:rPr lang="es-CL" sz="1200">
                  <a:solidFill>
                    <a:schemeClr val="dk1"/>
                  </a:solidFill>
                </a:rPr>
              </a:br>
              <a:endParaRPr sz="1200">
                <a:solidFill>
                  <a:schemeClr val="dk1"/>
                </a:solidFill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s-CL" sz="1200">
                  <a:solidFill>
                    <a:schemeClr val="dk1"/>
                  </a:solidFill>
                </a:rPr>
                <a:t>Panel de seguimiento del estado de postulación.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900">
                <a:solidFill>
                  <a:srgbClr val="434343"/>
                </a:solidFill>
              </a:endParaRPr>
            </a:p>
          </p:txBody>
        </p:sp>
      </p:grpSp>
      <p:sp>
        <p:nvSpPr>
          <p:cNvPr id="178" name="Google Shape;178;g3a4b9596d6e_0_3"/>
          <p:cNvSpPr txBox="1"/>
          <p:nvPr/>
        </p:nvSpPr>
        <p:spPr>
          <a:xfrm>
            <a:off x="12209375" y="2771563"/>
            <a:ext cx="34452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lang="es-CL" sz="1500">
                <a:solidFill>
                  <a:srgbClr val="1F1F1F"/>
                </a:solidFill>
              </a:rPr>
              <a:t>Automatización del proceso completo de prácticas y capacitaciones.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lang="es-CL" sz="1500">
                <a:solidFill>
                  <a:srgbClr val="1F1F1F"/>
                </a:solidFill>
              </a:rPr>
              <a:t>Integración de todos los actores (empresa, estudiante, capacitador) en un solo entorno.</a:t>
            </a:r>
            <a:endParaRPr sz="1500">
              <a:solidFill>
                <a:srgbClr val="1F1F1F"/>
              </a:solidFill>
            </a:endParaRPr>
          </a:p>
        </p:txBody>
      </p:sp>
      <p:grpSp>
        <p:nvGrpSpPr>
          <p:cNvPr id="179" name="Google Shape;179;g3a4b9596d6e_0_3"/>
          <p:cNvGrpSpPr/>
          <p:nvPr/>
        </p:nvGrpSpPr>
        <p:grpSpPr>
          <a:xfrm>
            <a:off x="16209410" y="2904349"/>
            <a:ext cx="3445079" cy="3842206"/>
            <a:chOff x="7373784" y="2267726"/>
            <a:chExt cx="1276333" cy="1190496"/>
          </a:xfrm>
        </p:grpSpPr>
        <p:pic>
          <p:nvPicPr>
            <p:cNvPr id="180" name="Google Shape;180;g3a4b9596d6e_0_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73784" y="2267726"/>
              <a:ext cx="1276333" cy="1190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g3a4b9596d6e_0_3"/>
            <p:cNvSpPr txBox="1"/>
            <p:nvPr/>
          </p:nvSpPr>
          <p:spPr>
            <a:xfrm>
              <a:off x="7465902" y="2327467"/>
              <a:ext cx="1132500" cy="10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250" lIns="184250" spcFirstLastPara="1" rIns="184250" wrap="square" tIns="184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g3a4b9596d6e_0_3"/>
          <p:cNvSpPr txBox="1"/>
          <p:nvPr/>
        </p:nvSpPr>
        <p:spPr>
          <a:xfrm>
            <a:off x="8470350" y="3145010"/>
            <a:ext cx="31152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Plataforma integral que conecta empresas, practicantes y capacitadores.</a:t>
            </a:r>
            <a:b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Centraliza publicación, postulación y seguimiento de prácticas.</a:t>
            </a:r>
            <a:b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Permite agendar capacitaciones directamente desde el sistema.</a:t>
            </a:r>
            <a:b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Interfaz amigable, accesible y con control de roles (empresa, practicante, capacitador).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3" name="Google Shape;183;g3a4b9596d6e_0_3"/>
          <p:cNvSpPr txBox="1"/>
          <p:nvPr/>
        </p:nvSpPr>
        <p:spPr>
          <a:xfrm>
            <a:off x="692331" y="3128442"/>
            <a:ext cx="26358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Condensed"/>
              <a:buChar char="●"/>
            </a:pPr>
            <a: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Dificultad para encontrar prácticas adecuadas según carrera o disponibilidad.</a:t>
            </a:r>
            <a:b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sz="17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Condensed"/>
              <a:buChar char="●"/>
            </a:pPr>
            <a: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Procesos lentos y manuales para postular o revisar postulaciones.</a:t>
            </a:r>
            <a:b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sz="17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Condensed"/>
              <a:buChar char="●"/>
            </a:pPr>
            <a: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Poca trazabilidad del estado de postulación.</a:t>
            </a:r>
            <a:endParaRPr sz="17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4" name="Google Shape;184;g3a4b9596d6e_0_3"/>
          <p:cNvSpPr txBox="1"/>
          <p:nvPr/>
        </p:nvSpPr>
        <p:spPr>
          <a:xfrm>
            <a:off x="12770045" y="5421254"/>
            <a:ext cx="2471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página WEB</a:t>
            </a:r>
            <a:r>
              <a:rPr lang="es-CL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, </a:t>
            </a:r>
            <a:r>
              <a:rPr b="0" i="0" lang="es-CL" sz="2400" u="none" cap="none" strike="noStrik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correo</a:t>
            </a:r>
            <a:r>
              <a:rPr lang="es-CL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5" name="Google Shape;185;g3a4b9596d6e_0_3"/>
          <p:cNvSpPr txBox="1"/>
          <p:nvPr/>
        </p:nvSpPr>
        <p:spPr>
          <a:xfrm>
            <a:off x="11398675" y="8252858"/>
            <a:ext cx="70806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CL" sz="2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Arriendo web a empresas y venta de datos de las metricas.</a:t>
            </a:r>
            <a:endParaRPr b="0" i="0" sz="2200" u="none" cap="none" strike="noStrik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6" name="Google Shape;186;g3a4b9596d6e_0_3"/>
          <p:cNvSpPr txBox="1"/>
          <p:nvPr/>
        </p:nvSpPr>
        <p:spPr>
          <a:xfrm>
            <a:off x="1963513" y="8126497"/>
            <a:ext cx="72600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Mantenimiento Web, página web, Mantenimiento Seguridad, Local, Servicios.</a:t>
            </a:r>
            <a:endParaRPr b="0" i="0" sz="1800" u="none" cap="none" strike="noStrik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7" name="Google Shape;187;g3a4b9596d6e_0_3"/>
          <p:cNvSpPr txBox="1"/>
          <p:nvPr/>
        </p:nvSpPr>
        <p:spPr>
          <a:xfrm>
            <a:off x="16642705" y="3145015"/>
            <a:ext cx="26358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Estudiantes en búsqueda de su primera práctica profesional.</a:t>
            </a:r>
            <a:b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Empresas que constantemente publican oportunidades de práctica.</a:t>
            </a: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8" name="Google Shape;188;g3a4b9596d6e_0_3"/>
          <p:cNvSpPr txBox="1"/>
          <p:nvPr/>
        </p:nvSpPr>
        <p:spPr>
          <a:xfrm>
            <a:off x="4486450" y="5253703"/>
            <a:ext cx="30063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Alumnos por </a:t>
            </a: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institución</a:t>
            </a:r>
            <a:endParaRPr b="0" i="0" sz="1800" u="none" cap="none" strike="noStrik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Postulación</a:t>
            </a: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por tipo de </a:t>
            </a: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práctica</a:t>
            </a: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Rechazo por </a:t>
            </a: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institución</a:t>
            </a: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Empresas </a:t>
            </a: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más</a:t>
            </a: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solicitadas</a:t>
            </a: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/>
        </p:nvSpPr>
        <p:spPr>
          <a:xfrm>
            <a:off x="8159750" y="6250622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1517650" y="7712075"/>
            <a:ext cx="830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CL" sz="4800">
                <a:solidFill>
                  <a:srgbClr val="257CE1"/>
                </a:solidFill>
              </a:rPr>
              <a:t>Planificación</a:t>
            </a:r>
            <a:r>
              <a:rPr b="1" lang="es-CL" sz="4800">
                <a:solidFill>
                  <a:srgbClr val="257CE1"/>
                </a:solidFill>
              </a:rPr>
              <a:t> del proyecto</a:t>
            </a:r>
            <a:endParaRPr b="1" i="0" sz="4800" u="none" cap="none" strike="noStrike">
              <a:solidFill>
                <a:srgbClr val="257C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450" y="1867948"/>
            <a:ext cx="9356149" cy="8740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Objetivo general y </a:t>
            </a:r>
            <a:r>
              <a:rPr lang="es-CL"/>
              <a:t>específico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1926672" y="2794476"/>
            <a:ext cx="7302000" cy="5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 objetivo estratégico es diseñar una página web</a:t>
            </a:r>
            <a:r>
              <a:rPr lang="es-CL" sz="3400">
                <a:solidFill>
                  <a:schemeClr val="dk1"/>
                </a:solidFill>
              </a:rPr>
              <a:t> responsive para la postulación, la citación y la entrevista para la capacitación del practicante.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Mientras que nuestro objetivo principal, es </a:t>
            </a:r>
            <a:r>
              <a:rPr lang="es-CL" sz="3400">
                <a:solidFill>
                  <a:schemeClr val="dk1"/>
                </a:solidFill>
              </a:rPr>
              <a:t>hacer una pagina que concentre todas las postulaciones en el área informática para las distintas empresas.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8"/>
          <p:cNvPicPr preferRelativeResize="0"/>
          <p:nvPr/>
        </p:nvPicPr>
        <p:blipFill rotWithShape="1">
          <a:blip r:embed="rId4">
            <a:alphaModFix/>
          </a:blip>
          <a:srcRect b="0" l="7851" r="0" t="9510"/>
          <a:stretch/>
        </p:blipFill>
        <p:spPr>
          <a:xfrm>
            <a:off x="10149825" y="2462000"/>
            <a:ext cx="9022051" cy="81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991c489733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400" y="1693223"/>
            <a:ext cx="9356149" cy="8740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991c489733_0_19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Objetivo general y específico</a:t>
            </a:r>
            <a:endParaRPr/>
          </a:p>
        </p:txBody>
      </p:sp>
      <p:pic>
        <p:nvPicPr>
          <p:cNvPr id="209" name="Google Shape;209;g3991c489733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8400" y="1283250"/>
            <a:ext cx="7710150" cy="91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9046b8d99_0_5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Metodología</a:t>
            </a:r>
            <a:r>
              <a:rPr lang="es-CL"/>
              <a:t> del proyecto</a:t>
            </a:r>
            <a:endParaRPr/>
          </a:p>
        </p:txBody>
      </p:sp>
      <p:pic>
        <p:nvPicPr>
          <p:cNvPr id="215" name="Google Shape;215;g399046b8d99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550" y="1460250"/>
            <a:ext cx="12792999" cy="838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>
            <p:ph type="title"/>
          </p:nvPr>
        </p:nvSpPr>
        <p:spPr>
          <a:xfrm>
            <a:off x="6242050" y="9007475"/>
            <a:ext cx="938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Propuesta </a:t>
            </a:r>
            <a:r>
              <a:rPr lang="es-CL" sz="6600"/>
              <a:t>técnica</a:t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19caba1fe_0_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Modelo por capas</a:t>
            </a:r>
            <a:endParaRPr/>
          </a:p>
        </p:txBody>
      </p:sp>
      <p:sp>
        <p:nvSpPr>
          <p:cNvPr id="227" name="Google Shape;227;g3a19caba1fe_0_0"/>
          <p:cNvSpPr/>
          <p:nvPr/>
        </p:nvSpPr>
        <p:spPr>
          <a:xfrm>
            <a:off x="1584000" y="2565614"/>
            <a:ext cx="3464400" cy="7295100"/>
          </a:xfrm>
          <a:prstGeom prst="rect">
            <a:avLst/>
          </a:prstGeom>
          <a:solidFill>
            <a:schemeClr val="lt2"/>
          </a:solidFill>
          <a:ln cap="flat" cmpd="sng" w="11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275" lIns="114275" spcFirstLastPara="1" rIns="114275" wrap="square" tIns="11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750">
                <a:latin typeface="Calibri"/>
                <a:ea typeface="Calibri"/>
                <a:cs typeface="Calibri"/>
                <a:sym typeface="Calibri"/>
              </a:rPr>
              <a:t>Capa de </a:t>
            </a:r>
            <a:r>
              <a:rPr lang="es-CL" sz="2750">
                <a:latin typeface="Calibri"/>
                <a:ea typeface="Calibri"/>
                <a:cs typeface="Calibri"/>
                <a:sym typeface="Calibri"/>
              </a:rPr>
              <a:t>Presentación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g3a19caba1f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039" y="3335974"/>
            <a:ext cx="1444323" cy="1444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a19caba1f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2278" y="5397628"/>
            <a:ext cx="1987808" cy="198780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a19caba1fe_0_0"/>
          <p:cNvSpPr/>
          <p:nvPr/>
        </p:nvSpPr>
        <p:spPr>
          <a:xfrm>
            <a:off x="5729275" y="2565625"/>
            <a:ext cx="3366600" cy="7295100"/>
          </a:xfrm>
          <a:prstGeom prst="rect">
            <a:avLst/>
          </a:prstGeom>
          <a:solidFill>
            <a:schemeClr val="lt2"/>
          </a:solidFill>
          <a:ln cap="flat" cmpd="sng" w="11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1050" lIns="111050" spcFirstLastPara="1" rIns="111050" wrap="square" tIns="11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72">
                <a:latin typeface="Calibri"/>
                <a:ea typeface="Calibri"/>
                <a:cs typeface="Calibri"/>
                <a:sym typeface="Calibri"/>
              </a:rPr>
              <a:t>Capa de Negocio</a:t>
            </a:r>
            <a:endParaRPr sz="267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g3a19caba1f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5463" y="3335966"/>
            <a:ext cx="2194150" cy="1444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a19caba1f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2988" y="5103310"/>
            <a:ext cx="2899093" cy="198782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a19caba1fe_0_0"/>
          <p:cNvSpPr/>
          <p:nvPr/>
        </p:nvSpPr>
        <p:spPr>
          <a:xfrm>
            <a:off x="9706238" y="2565625"/>
            <a:ext cx="3841800" cy="7295100"/>
          </a:xfrm>
          <a:prstGeom prst="rect">
            <a:avLst/>
          </a:prstGeom>
          <a:solidFill>
            <a:schemeClr val="lt2"/>
          </a:solidFill>
          <a:ln cap="flat" cmpd="sng" w="11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750">
                <a:latin typeface="Calibri"/>
                <a:ea typeface="Calibri"/>
                <a:cs typeface="Calibri"/>
                <a:sym typeface="Calibri"/>
              </a:rPr>
              <a:t>Capa de </a:t>
            </a:r>
            <a:r>
              <a:rPr lang="es-CL" sz="2750">
                <a:latin typeface="Calibri"/>
                <a:ea typeface="Calibri"/>
                <a:cs typeface="Calibri"/>
                <a:sym typeface="Calibri"/>
              </a:rPr>
              <a:t>Acceso</a:t>
            </a:r>
            <a:r>
              <a:rPr lang="es-CL" sz="2750">
                <a:latin typeface="Calibri"/>
                <a:ea typeface="Calibri"/>
                <a:cs typeface="Calibri"/>
                <a:sym typeface="Calibri"/>
              </a:rPr>
              <a:t> a Datos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3a19caba1f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13996" y="3718354"/>
            <a:ext cx="3626192" cy="176905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a19caba1fe_0_0"/>
          <p:cNvSpPr/>
          <p:nvPr/>
        </p:nvSpPr>
        <p:spPr>
          <a:xfrm>
            <a:off x="14158425" y="2565625"/>
            <a:ext cx="4105800" cy="72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g3a19caba1fe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500550" y="4420111"/>
            <a:ext cx="3464346" cy="15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a19caba1fe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718600" y="6490663"/>
            <a:ext cx="3028251" cy="22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a19caba1fe_0_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51508" y="6409523"/>
            <a:ext cx="2551171" cy="23006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g3a19caba1fe_0_0"/>
          <p:cNvCxnSpPr>
            <a:stCxn id="227" idx="3"/>
            <a:endCxn id="230" idx="1"/>
          </p:cNvCxnSpPr>
          <p:nvPr/>
        </p:nvCxnSpPr>
        <p:spPr>
          <a:xfrm>
            <a:off x="5048400" y="6213164"/>
            <a:ext cx="6810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g3a19caba1fe_0_0"/>
          <p:cNvCxnSpPr>
            <a:stCxn id="230" idx="3"/>
            <a:endCxn id="233" idx="1"/>
          </p:cNvCxnSpPr>
          <p:nvPr/>
        </p:nvCxnSpPr>
        <p:spPr>
          <a:xfrm>
            <a:off x="9095875" y="6213175"/>
            <a:ext cx="610500" cy="6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g3a19caba1fe_0_0"/>
          <p:cNvCxnSpPr>
            <a:stCxn id="233" idx="3"/>
            <a:endCxn id="235" idx="1"/>
          </p:cNvCxnSpPr>
          <p:nvPr/>
        </p:nvCxnSpPr>
        <p:spPr>
          <a:xfrm>
            <a:off x="13548038" y="6213175"/>
            <a:ext cx="6105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2" name="Google Shape;242;g3a19caba1fe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46902" y="7385425"/>
            <a:ext cx="2260826" cy="226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a19caba1fe_0_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340125" y="8133689"/>
            <a:ext cx="1952146" cy="1143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9046b8d99_0_1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Modelamientos utilizados</a:t>
            </a:r>
            <a:endParaRPr/>
          </a:p>
        </p:txBody>
      </p:sp>
      <p:pic>
        <p:nvPicPr>
          <p:cNvPr id="249" name="Google Shape;249;g399046b8d99_0_10" title="Captura de pantalla 2025-11-06 2349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599" y="2718038"/>
            <a:ext cx="7384375" cy="58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99046b8d99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7900" y="2093447"/>
            <a:ext cx="7588149" cy="445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99046b8d99_0_10" title="Captura de pantalla 2025-09-12 1638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89200" y="6636776"/>
            <a:ext cx="8306851" cy="366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a19d2cdb6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825" y="2636725"/>
            <a:ext cx="9450925" cy="619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a19d2cdb69_0_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Diseño inicial y set de pruebas</a:t>
            </a:r>
            <a:endParaRPr/>
          </a:p>
        </p:txBody>
      </p:sp>
      <p:pic>
        <p:nvPicPr>
          <p:cNvPr id="258" name="Google Shape;258;g3a19d2cdb69_0_0" title="Captura de pantalla 2025-09-12 1732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225" y="2830750"/>
            <a:ext cx="9009627" cy="56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a19d2cdb69_0_0" title="Captura de pantalla 2025-11-10 19250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38475" y="2773282"/>
            <a:ext cx="9009626" cy="576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>
            <p:ph type="title"/>
          </p:nvPr>
        </p:nvSpPr>
        <p:spPr>
          <a:xfrm>
            <a:off x="222250" y="7407275"/>
            <a:ext cx="103935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Tecnologías</a:t>
            </a:r>
            <a:r>
              <a:rPr lang="es-CL" sz="6600"/>
              <a:t> utilizadas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9089872" y="6188075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950" y="2449799"/>
            <a:ext cx="5056520" cy="364297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Tecnologías</a:t>
            </a:r>
            <a:r>
              <a:rPr lang="es-CL"/>
              <a:t> que usamos y el ¿</a:t>
            </a:r>
            <a:r>
              <a:rPr lang="es-CL"/>
              <a:t>porqué</a:t>
            </a:r>
            <a:r>
              <a:rPr lang="es-CL"/>
              <a:t>?</a:t>
            </a:r>
            <a:endParaRPr/>
          </a:p>
        </p:txBody>
      </p:sp>
      <p:pic>
        <p:nvPicPr>
          <p:cNvPr id="272" name="Google Shape;2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8825" y="2662250"/>
            <a:ext cx="4290776" cy="32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5473" y="2544300"/>
            <a:ext cx="5183826" cy="34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05175" y="2355301"/>
            <a:ext cx="3642975" cy="36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28638" y="6816950"/>
            <a:ext cx="5183826" cy="33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21120" y="7465875"/>
            <a:ext cx="58102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831370" y="7465875"/>
            <a:ext cx="5967931" cy="221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91c489733_0_32"/>
          <p:cNvSpPr txBox="1"/>
          <p:nvPr>
            <p:ph type="title"/>
          </p:nvPr>
        </p:nvSpPr>
        <p:spPr>
          <a:xfrm>
            <a:off x="222250" y="7407275"/>
            <a:ext cx="10393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Etapas de </a:t>
            </a:r>
            <a:r>
              <a:rPr lang="es-CL" sz="6600"/>
              <a:t>implementación</a:t>
            </a:r>
            <a:endParaRPr/>
          </a:p>
        </p:txBody>
      </p:sp>
      <p:sp>
        <p:nvSpPr>
          <p:cNvPr id="283" name="Google Shape;283;g3991c489733_0_32"/>
          <p:cNvSpPr txBox="1"/>
          <p:nvPr/>
        </p:nvSpPr>
        <p:spPr>
          <a:xfrm>
            <a:off x="9089872" y="6188075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Roadmap</a:t>
            </a:r>
            <a:endParaRPr/>
          </a:p>
        </p:txBody>
      </p:sp>
      <p:pic>
        <p:nvPicPr>
          <p:cNvPr id="289" name="Google Shape;289;p12" title="Captura de pantalla 2025-12-08 1628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338" y="2373317"/>
            <a:ext cx="17497425" cy="65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91c489733_0_37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RACI</a:t>
            </a:r>
            <a:endParaRPr/>
          </a:p>
        </p:txBody>
      </p:sp>
      <p:pic>
        <p:nvPicPr>
          <p:cNvPr id="295" name="Google Shape;295;g3991c489733_0_37" title="Captura de pantalla 2025-11-10 1957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5763" y="335300"/>
            <a:ext cx="11012575" cy="106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91c489733_0_43"/>
          <p:cNvSpPr txBox="1"/>
          <p:nvPr>
            <p:ph idx="1" type="body"/>
          </p:nvPr>
        </p:nvSpPr>
        <p:spPr>
          <a:xfrm>
            <a:off x="11425201" y="2557375"/>
            <a:ext cx="764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GitHub</a:t>
            </a:r>
            <a:endParaRPr/>
          </a:p>
        </p:txBody>
      </p:sp>
      <p:sp>
        <p:nvSpPr>
          <p:cNvPr id="301" name="Google Shape;301;g3991c489733_0_43"/>
          <p:cNvSpPr txBox="1"/>
          <p:nvPr>
            <p:ph idx="1" type="body"/>
          </p:nvPr>
        </p:nvSpPr>
        <p:spPr>
          <a:xfrm>
            <a:off x="393100" y="2557375"/>
            <a:ext cx="1029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Trello</a:t>
            </a:r>
            <a:endParaRPr/>
          </a:p>
        </p:txBody>
      </p:sp>
      <p:pic>
        <p:nvPicPr>
          <p:cNvPr id="302" name="Google Shape;302;g3991c489733_0_43" title="Captura de pantalla 2025-11-10 2000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75" y="3608350"/>
            <a:ext cx="9658877" cy="632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3991c489733_0_43" title="Captura de pantalla 2025-11-10 200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2700" y="3782829"/>
            <a:ext cx="8963025" cy="57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 txBox="1"/>
          <p:nvPr/>
        </p:nvSpPr>
        <p:spPr>
          <a:xfrm>
            <a:off x="4718050" y="4177347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 txBox="1"/>
          <p:nvPr>
            <p:ph type="title"/>
          </p:nvPr>
        </p:nvSpPr>
        <p:spPr>
          <a:xfrm>
            <a:off x="4794250" y="5349875"/>
            <a:ext cx="915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Muestra de la </a:t>
            </a:r>
            <a:r>
              <a:rPr lang="es-CL" sz="6600"/>
              <a:t>solución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Sistema funcional de la </a:t>
            </a:r>
            <a:r>
              <a:rPr lang="es-CL"/>
              <a:t>solución</a:t>
            </a:r>
            <a:endParaRPr/>
          </a:p>
        </p:txBody>
      </p:sp>
      <p:pic>
        <p:nvPicPr>
          <p:cNvPr id="315" name="Google Shape;31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125" y="2004425"/>
            <a:ext cx="15549851" cy="730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d3f7fb9b5_0_0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Video funcional de la solución</a:t>
            </a:r>
            <a:endParaRPr/>
          </a:p>
        </p:txBody>
      </p:sp>
      <p:pic>
        <p:nvPicPr>
          <p:cNvPr id="321" name="Google Shape;321;g3ad3f7fb9b5_0_0" title="Video Funcional SimuTech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0975" y="1764725"/>
            <a:ext cx="16082150" cy="84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"/>
          <p:cNvSpPr txBox="1"/>
          <p:nvPr/>
        </p:nvSpPr>
        <p:spPr>
          <a:xfrm>
            <a:off x="7461250" y="7225347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"/>
          <p:cNvSpPr txBox="1"/>
          <p:nvPr>
            <p:ph type="title"/>
          </p:nvPr>
        </p:nvSpPr>
        <p:spPr>
          <a:xfrm>
            <a:off x="7537450" y="8397875"/>
            <a:ext cx="90200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Retrospectiva</a:t>
            </a:r>
            <a:r>
              <a:rPr lang="es-CL" sz="6600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2" name="Google Shape;332;p16"/>
          <p:cNvGraphicFramePr/>
          <p:nvPr/>
        </p:nvGraphicFramePr>
        <p:xfrm>
          <a:off x="2231200" y="3902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{444BF30C-8229-4702-902D-84ED69B772E1}</a:tableStyleId>
              </a:tblPr>
              <a:tblGrid>
                <a:gridCol w="2433625"/>
                <a:gridCol w="2394850"/>
                <a:gridCol w="239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Dificultades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Cómo</a:t>
                      </a:r>
                      <a:r>
                        <a:rPr lang="es-CL"/>
                        <a:t> lo solucionamos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Lecciones aprendidas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4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Poca </a:t>
                      </a:r>
                      <a:r>
                        <a:rPr lang="es-CL"/>
                        <a:t>coordinación</a:t>
                      </a:r>
                      <a:r>
                        <a:rPr lang="es-CL"/>
                        <a:t> y </a:t>
                      </a:r>
                      <a:r>
                        <a:rPr lang="es-CL"/>
                        <a:t>comunicación</a:t>
                      </a:r>
                      <a:r>
                        <a:rPr lang="es-CL"/>
                        <a:t> al inicio.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Tuvimos charlas entre nosotros y nuestro profesor </a:t>
                      </a:r>
                      <a:r>
                        <a:rPr lang="es-CL"/>
                        <a:t>también</a:t>
                      </a:r>
                      <a:r>
                        <a:rPr lang="es-CL"/>
                        <a:t> nos </a:t>
                      </a:r>
                      <a:r>
                        <a:rPr lang="es-CL"/>
                        <a:t>ayudó</a:t>
                      </a:r>
                      <a:r>
                        <a:rPr lang="es-CL"/>
                        <a:t> en ese tema.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Nos dimos cuenta que la 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comunicación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 y 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coordinación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 del equipo, es importante para que el proyecto funcione bien.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Adaptación</a:t>
                      </a:r>
                      <a:r>
                        <a:rPr lang="es-CL"/>
                        <a:t> responsive.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Vimos videos y investigamos en internet.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La comunicación constante del equipo redujo los errores al investigar este tema.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Poco conocimiento de los portales de practica comunes.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Nos adentramos </a:t>
                      </a:r>
                      <a:r>
                        <a:rPr lang="es-CL"/>
                        <a:t>más</a:t>
                      </a:r>
                      <a:r>
                        <a:rPr lang="es-CL"/>
                        <a:t> en el tema mediante investigaciones.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La investigación hizo que el proyecto tuviera mucha más seriedad.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3" name="Google Shape;333;p16"/>
          <p:cNvSpPr txBox="1"/>
          <p:nvPr>
            <p:ph idx="4294967295" type="title"/>
          </p:nvPr>
        </p:nvSpPr>
        <p:spPr>
          <a:xfrm>
            <a:off x="700700" y="762244"/>
            <a:ext cx="16988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Retrospectiva del proyecto</a:t>
            </a:r>
            <a:endParaRPr/>
          </a:p>
        </p:txBody>
      </p:sp>
      <p:pic>
        <p:nvPicPr>
          <p:cNvPr id="334" name="Google Shape;33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5125" y="4571991"/>
            <a:ext cx="7223325" cy="4725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2022-07-20T19:15:37Z</dcterms:created>
  <dc:creator>Daniela Taito R.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0x010100018D87CEFA56DA42BF8E9E6D1D515907</vt:lpwstr>
  </property>
</Properties>
</file>