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11309350" cx="20104100"/>
  <p:notesSz cx="20104100" cy="11309350"/>
  <p:embeddedFontLst>
    <p:embeddedFont>
      <p:font typeface="Barlow Condensed"/>
      <p:regular r:id="rId33"/>
      <p:bold r:id="rId34"/>
      <p:italic r:id="rId35"/>
      <p:boldItalic r:id="rId36"/>
    </p:embeddedFont>
    <p:embeddedFont>
      <p:font typeface="Arial Black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j+FiL4LCf+mIimE1sh9TJBkfV/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0057A0-89BE-4247-8E93-FEE4D8702D54}">
  <a:tblStyle styleId="{F40057A0-89BE-4247-8E93-FEE4D8702D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BarlowCondensed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BarlowCondensed-italic.fntdata"/><Relationship Id="rId12" Type="http://schemas.openxmlformats.org/officeDocument/2006/relationships/slide" Target="slides/slide6.xml"/><Relationship Id="rId34" Type="http://schemas.openxmlformats.org/officeDocument/2006/relationships/font" Target="fonts/BarlowCondensed-bold.fntdata"/><Relationship Id="rId15" Type="http://schemas.openxmlformats.org/officeDocument/2006/relationships/slide" Target="slides/slide9.xml"/><Relationship Id="rId37" Type="http://schemas.openxmlformats.org/officeDocument/2006/relationships/font" Target="fonts/ArialBlack-regular.fntdata"/><Relationship Id="rId14" Type="http://schemas.openxmlformats.org/officeDocument/2006/relationships/slide" Target="slides/slide8.xml"/><Relationship Id="rId36" Type="http://schemas.openxmlformats.org/officeDocument/2006/relationships/font" Target="fonts/BarlowCondensed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1cd72a1df_0_16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g3a1cd72a1df_0_16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1cd72a1df_0_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g3a1cd72a1df_0_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1d32738e2_0_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g3a1d32738e2_0_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9046b8d99_0_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99046b8d99_0_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89491434a_0_212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989491434a_0_212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4b9596d6e_0_3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a4b9596d6e_0_3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91c489733_0_19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991c489733_0_19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9046b8d99_0_5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99046b8d99_0_5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19caba1fe_0_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3a19caba1fe_0_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9046b8d99_0_1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399046b8d99_0_1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19d2cdb69_0_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3a19d2cdb69_0_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91c489733_0_32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991c489733_0_32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991c489733_0_37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991c489733_0_37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91c489733_0_43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g3991c489733_0_43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13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14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15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16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title"/>
          </p:nvPr>
        </p:nvSpPr>
        <p:spPr>
          <a:xfrm>
            <a:off x="2432050" y="714594"/>
            <a:ext cx="1698826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/>
          <p:nvPr/>
        </p:nvSpPr>
        <p:spPr>
          <a:xfrm>
            <a:off x="-6350" y="656116"/>
            <a:ext cx="2243455" cy="1060450"/>
          </a:xfrm>
          <a:custGeom>
            <a:rect b="b" l="l" r="r" t="t"/>
            <a:pathLst>
              <a:path extrusionOk="0" h="1060450" w="2243455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8"/>
          <p:cNvSpPr/>
          <p:nvPr/>
        </p:nvSpPr>
        <p:spPr>
          <a:xfrm>
            <a:off x="16938421" y="10202309"/>
            <a:ext cx="1576070" cy="511175"/>
          </a:xfrm>
          <a:custGeom>
            <a:rect b="b" l="l" r="r" t="t"/>
            <a:pathLst>
              <a:path extrusionOk="0" h="511175" w="1576069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extrusionOk="0" h="511175" w="1576069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extrusionOk="0" h="511175" w="1576069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extrusionOk="0" h="511175" w="1576069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8"/>
          <p:cNvSpPr/>
          <p:nvPr/>
        </p:nvSpPr>
        <p:spPr>
          <a:xfrm>
            <a:off x="18623540" y="10245307"/>
            <a:ext cx="378460" cy="469900"/>
          </a:xfrm>
          <a:custGeom>
            <a:rect b="b" l="l" r="r" t="t"/>
            <a:pathLst>
              <a:path extrusionOk="0" h="469900" w="378459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" name="Google Shape;20;p18"/>
          <p:cNvGrpSpPr/>
          <p:nvPr/>
        </p:nvGrpSpPr>
        <p:grpSpPr>
          <a:xfrm>
            <a:off x="19053919" y="10117702"/>
            <a:ext cx="427015" cy="597582"/>
            <a:chOff x="19053919" y="10117702"/>
            <a:chExt cx="427015" cy="597582"/>
          </a:xfrm>
        </p:grpSpPr>
        <p:sp>
          <p:nvSpPr>
            <p:cNvPr id="21" name="Google Shape;21;p18"/>
            <p:cNvSpPr/>
            <p:nvPr/>
          </p:nvSpPr>
          <p:spPr>
            <a:xfrm>
              <a:off x="19053919" y="10237764"/>
              <a:ext cx="366395" cy="477520"/>
            </a:xfrm>
            <a:custGeom>
              <a:rect b="b" l="l" r="r" t="t"/>
              <a:pathLst>
                <a:path extrusionOk="0" h="477520" w="366394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" name="Google Shape;22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9"/>
          <p:cNvSpPr txBox="1"/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" type="subTitle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/>
          <p:nvPr/>
        </p:nvSpPr>
        <p:spPr>
          <a:xfrm>
            <a:off x="2838209" y="9464675"/>
            <a:ext cx="8841105" cy="0"/>
          </a:xfrm>
          <a:custGeom>
            <a:rect b="b" l="l" r="r" t="t"/>
            <a:pathLst>
              <a:path extrusionOk="0" h="120000"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0"/>
          <p:cNvSpPr txBox="1"/>
          <p:nvPr>
            <p:ph type="title"/>
          </p:nvPr>
        </p:nvSpPr>
        <p:spPr>
          <a:xfrm>
            <a:off x="6851650" y="74834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1"/>
          <p:cNvSpPr txBox="1"/>
          <p:nvPr>
            <p:ph type="title"/>
          </p:nvPr>
        </p:nvSpPr>
        <p:spPr>
          <a:xfrm>
            <a:off x="4794250" y="69500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40"/>
            <a:ext cx="20109342" cy="1130561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2"/>
          <p:cNvSpPr/>
          <p:nvPr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2"/>
          <p:cNvSpPr txBox="1"/>
          <p:nvPr>
            <p:ph type="title"/>
          </p:nvPr>
        </p:nvSpPr>
        <p:spPr>
          <a:xfrm>
            <a:off x="1184428" y="6591401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/>
          <p:nvPr/>
        </p:nvSpPr>
        <p:spPr>
          <a:xfrm>
            <a:off x="727227" y="10202309"/>
            <a:ext cx="1576070" cy="511175"/>
          </a:xfrm>
          <a:custGeom>
            <a:rect b="b" l="l" r="r" t="t"/>
            <a:pathLst>
              <a:path extrusionOk="0" h="511175" w="1576070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extrusionOk="0" h="511175" w="1576070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extrusionOk="0" h="511175" w="1576070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extrusionOk="0" h="511175" w="1576070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3"/>
          <p:cNvSpPr/>
          <p:nvPr/>
        </p:nvSpPr>
        <p:spPr>
          <a:xfrm>
            <a:off x="2412348" y="10245307"/>
            <a:ext cx="378460" cy="469900"/>
          </a:xfrm>
          <a:custGeom>
            <a:rect b="b" l="l" r="r" t="t"/>
            <a:pathLst>
              <a:path extrusionOk="0" h="469900" w="37846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23"/>
          <p:cNvGrpSpPr/>
          <p:nvPr/>
        </p:nvGrpSpPr>
        <p:grpSpPr>
          <a:xfrm>
            <a:off x="2842727" y="10117702"/>
            <a:ext cx="427015" cy="597582"/>
            <a:chOff x="2842727" y="10117702"/>
            <a:chExt cx="427015" cy="597582"/>
          </a:xfrm>
        </p:grpSpPr>
        <p:sp>
          <p:nvSpPr>
            <p:cNvPr id="43" name="Google Shape;43;p23"/>
            <p:cNvSpPr/>
            <p:nvPr/>
          </p:nvSpPr>
          <p:spPr>
            <a:xfrm>
              <a:off x="2842727" y="10237764"/>
              <a:ext cx="366395" cy="477520"/>
            </a:xfrm>
            <a:custGeom>
              <a:rect b="b" l="l" r="r" t="t"/>
              <a:pathLst>
                <a:path extrusionOk="0" h="477520" w="366394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" name="Google Shape;44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" name="Google Shape;45;p23"/>
          <p:cNvSpPr/>
          <p:nvPr/>
        </p:nvSpPr>
        <p:spPr>
          <a:xfrm>
            <a:off x="17840597" y="656116"/>
            <a:ext cx="2243455" cy="1060450"/>
          </a:xfrm>
          <a:custGeom>
            <a:rect b="b" l="l" r="r" t="t"/>
            <a:pathLst>
              <a:path extrusionOk="0" h="1060450" w="2243455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727227" y="755454"/>
            <a:ext cx="1679242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Diseño personalizado">
  <p:cSld name="5_Diseño personalizad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340"/>
            <a:ext cx="20110047" cy="1130601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4"/>
          <p:cNvSpPr txBox="1"/>
          <p:nvPr>
            <p:ph type="title"/>
          </p:nvPr>
        </p:nvSpPr>
        <p:spPr>
          <a:xfrm>
            <a:off x="831850" y="71786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Diseño personalizado">
  <p:cSld name="6_Diseño personalizad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5"/>
          <p:cNvSpPr/>
          <p:nvPr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5"/>
          <p:cNvSpPr txBox="1"/>
          <p:nvPr>
            <p:ph type="title"/>
          </p:nvPr>
        </p:nvSpPr>
        <p:spPr>
          <a:xfrm>
            <a:off x="7661428" y="8207476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Diseño personalizado">
  <p:cSld name="4_Diseño personalizado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6"/>
          <p:cNvSpPr/>
          <p:nvPr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6"/>
          <p:cNvSpPr txBox="1"/>
          <p:nvPr>
            <p:ph type="title"/>
          </p:nvPr>
        </p:nvSpPr>
        <p:spPr>
          <a:xfrm>
            <a:off x="4842028" y="4534001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96"/>
            <a:ext cx="20104810" cy="1130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7"/>
          <p:cNvSpPr/>
          <p:nvPr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7"/>
          <p:cNvSpPr txBox="1"/>
          <p:nvPr>
            <p:ph type="title"/>
          </p:nvPr>
        </p:nvSpPr>
        <p:spPr>
          <a:xfrm>
            <a:off x="7432828" y="7658201"/>
            <a:ext cx="9020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Diseño personalizado">
  <p:cSld name="3_Diseño personalizado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2" y="0"/>
            <a:ext cx="20097375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8"/>
          <p:cNvSpPr txBox="1"/>
          <p:nvPr>
            <p:ph type="title"/>
          </p:nvPr>
        </p:nvSpPr>
        <p:spPr>
          <a:xfrm>
            <a:off x="6623050" y="7026275"/>
            <a:ext cx="9782022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 showMasterSp="0">
  <p:cSld name="Six columns of text 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3989491434a_0_2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299382" y="10273608"/>
            <a:ext cx="5743706" cy="1174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3989491434a_0_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45862" y="10412089"/>
            <a:ext cx="2722153" cy="830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5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Relationship Id="rId4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40.png"/><Relationship Id="rId5" Type="http://schemas.openxmlformats.org/officeDocument/2006/relationships/image" Target="../media/image16.png"/><Relationship Id="rId6" Type="http://schemas.openxmlformats.org/officeDocument/2006/relationships/image" Target="../media/image31.png"/><Relationship Id="rId7" Type="http://schemas.openxmlformats.org/officeDocument/2006/relationships/image" Target="../media/image26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Relationship Id="rId5" Type="http://schemas.openxmlformats.org/officeDocument/2006/relationships/image" Target="../media/image46.png"/><Relationship Id="rId6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29.png"/><Relationship Id="rId5" Type="http://schemas.openxmlformats.org/officeDocument/2006/relationships/image" Target="../media/image34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7.png"/><Relationship Id="rId4" Type="http://schemas.openxmlformats.org/officeDocument/2006/relationships/image" Target="../media/image4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drive.google.com/file/d/1f2R-IyidxC6LBESBom4kH9yvQdchay12/view" TargetMode="External"/><Relationship Id="rId4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type="ctrTitle"/>
          </p:nvPr>
        </p:nvSpPr>
        <p:spPr>
          <a:xfrm>
            <a:off x="3308349" y="8626475"/>
            <a:ext cx="87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4800"/>
              <a:t>SimuTech</a:t>
            </a:r>
            <a:endParaRPr sz="4800"/>
          </a:p>
        </p:txBody>
      </p:sp>
      <p:sp>
        <p:nvSpPr>
          <p:cNvPr id="78" name="Google Shape;78;p3"/>
          <p:cNvSpPr txBox="1"/>
          <p:nvPr>
            <p:ph idx="1" type="subTitle"/>
          </p:nvPr>
        </p:nvSpPr>
        <p:spPr>
          <a:xfrm>
            <a:off x="3727450" y="9617075"/>
            <a:ext cx="7911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L"/>
              <a:t>Matias Marchant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CL"/>
              <a:t>Adan Sagurie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CL" sz="2400">
                <a:latin typeface="Arial"/>
                <a:ea typeface="Arial"/>
                <a:cs typeface="Arial"/>
                <a:sym typeface="Arial"/>
              </a:rPr>
              <a:t>				Maipú, </a:t>
            </a:r>
            <a:r>
              <a:rPr b="1" lang="es-CL"/>
              <a:t>11</a:t>
            </a:r>
            <a:r>
              <a:rPr b="1" lang="es-CL" sz="2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L"/>
              <a:t>Noviembre</a:t>
            </a:r>
            <a:r>
              <a:rPr b="1" lang="es-CL" sz="2400">
                <a:latin typeface="Arial"/>
                <a:ea typeface="Arial"/>
                <a:cs typeface="Arial"/>
                <a:sym typeface="Arial"/>
              </a:rPr>
              <a:t> 202</a:t>
            </a:r>
            <a:r>
              <a:rPr b="1" lang="es-CL"/>
              <a:t>5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14014450" y="3444875"/>
            <a:ext cx="488787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CAPSTONE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1cd72a1df_0_16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Integrantes</a:t>
            </a:r>
            <a:endParaRPr/>
          </a:p>
        </p:txBody>
      </p:sp>
      <p:pic>
        <p:nvPicPr>
          <p:cNvPr id="85" name="Google Shape;85;g3a1cd72a1df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2613" y="2340834"/>
            <a:ext cx="3752085" cy="326600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a1cd72a1df_0_16"/>
          <p:cNvSpPr txBox="1"/>
          <p:nvPr/>
        </p:nvSpPr>
        <p:spPr>
          <a:xfrm>
            <a:off x="5279940" y="6032426"/>
            <a:ext cx="3649200" cy="29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775" lIns="156775" spcFirstLastPara="1" rIns="156775" wrap="square" tIns="15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Matias Marchant.</a:t>
            </a:r>
            <a:endParaRPr sz="2400">
              <a:solidFill>
                <a:srgbClr val="00000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Desarrollador y PO.</a:t>
            </a:r>
            <a:endParaRPr sz="2400">
              <a:solidFill>
                <a:srgbClr val="00000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 los fundadores de SimuTech. Certificado en Programación de Software y scrum.</a:t>
            </a:r>
            <a:endParaRPr sz="2400">
              <a:solidFill>
                <a:srgbClr val="00000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87" name="Google Shape;87;g3a1cd72a1df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37834" y="2340825"/>
            <a:ext cx="2887353" cy="326600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a1cd72a1df_0_16"/>
          <p:cNvSpPr txBox="1"/>
          <p:nvPr/>
        </p:nvSpPr>
        <p:spPr>
          <a:xfrm>
            <a:off x="10710775" y="6032425"/>
            <a:ext cx="4400700" cy="21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775" lIns="156775" spcFirstLastPara="1" rIns="156775" wrap="square" tIns="156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Adan Sagurie </a:t>
            </a:r>
            <a:endParaRPr sz="2400">
              <a:solidFill>
                <a:srgbClr val="00000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Desarrollador y SCM.</a:t>
            </a:r>
            <a:endParaRPr sz="2400">
              <a:solidFill>
                <a:srgbClr val="00000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 los</a:t>
            </a:r>
            <a:r>
              <a:rPr lang="es-CL" sz="2400">
                <a:latin typeface="Barlow Condensed"/>
                <a:ea typeface="Barlow Condensed"/>
                <a:cs typeface="Barlow Condensed"/>
                <a:sym typeface="Barlow Condensed"/>
              </a:rPr>
              <a:t> f</a:t>
            </a: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undadores de </a:t>
            </a:r>
            <a:r>
              <a:rPr lang="es-CL" sz="2400"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SimuTech.</a:t>
            </a:r>
            <a:endParaRPr sz="2400">
              <a:solidFill>
                <a:srgbClr val="00000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latin typeface="Barlow Condensed"/>
                <a:ea typeface="Barlow Condensed"/>
                <a:cs typeface="Barlow Condensed"/>
                <a:sym typeface="Barlow Condensed"/>
              </a:rPr>
              <a:t>C</a:t>
            </a: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ertificado de</a:t>
            </a:r>
            <a:r>
              <a:rPr lang="es-CL" sz="2400">
                <a:latin typeface="Barlow Condensed"/>
                <a:ea typeface="Barlow Condensed"/>
                <a:cs typeface="Barlow Condensed"/>
                <a:sym typeface="Barlow Condensed"/>
              </a:rPr>
              <a:t> P</a:t>
            </a:r>
            <a:r>
              <a:rPr lang="es-CL" sz="24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rogramación móvil y certiprof scrum</a:t>
            </a:r>
            <a:endParaRPr sz="2400">
              <a:solidFill>
                <a:srgbClr val="00000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1cd72a1df_0_0"/>
          <p:cNvSpPr/>
          <p:nvPr/>
        </p:nvSpPr>
        <p:spPr>
          <a:xfrm>
            <a:off x="9518650" y="1191375"/>
            <a:ext cx="5357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a1cd72a1df_0_0"/>
          <p:cNvSpPr txBox="1"/>
          <p:nvPr/>
        </p:nvSpPr>
        <p:spPr>
          <a:xfrm>
            <a:off x="9518650" y="2548964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a1cd72a1df_0_0"/>
          <p:cNvSpPr txBox="1"/>
          <p:nvPr/>
        </p:nvSpPr>
        <p:spPr>
          <a:xfrm>
            <a:off x="9617262" y="5554652"/>
            <a:ext cx="457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a1cd72a1df_0_0"/>
          <p:cNvSpPr txBox="1"/>
          <p:nvPr/>
        </p:nvSpPr>
        <p:spPr>
          <a:xfrm>
            <a:off x="14771968" y="3310964"/>
            <a:ext cx="472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Tecnologías</a:t>
            </a:r>
            <a:r>
              <a:rPr b="1" lang="es-CL" sz="3000">
                <a:solidFill>
                  <a:schemeClr val="dk1"/>
                </a:solidFill>
              </a:rPr>
              <a:t>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a1cd72a1df_0_0"/>
          <p:cNvSpPr txBox="1"/>
          <p:nvPr/>
        </p:nvSpPr>
        <p:spPr>
          <a:xfrm>
            <a:off x="9518650" y="4792652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a1cd72a1df_0_0"/>
          <p:cNvSpPr txBox="1"/>
          <p:nvPr/>
        </p:nvSpPr>
        <p:spPr>
          <a:xfrm>
            <a:off x="14656174" y="2548964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a1cd72a1df_0_0"/>
          <p:cNvSpPr txBox="1"/>
          <p:nvPr/>
        </p:nvSpPr>
        <p:spPr>
          <a:xfrm>
            <a:off x="9617262" y="7723256"/>
            <a:ext cx="416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Planificación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a1cd72a1df_0_0"/>
          <p:cNvSpPr txBox="1"/>
          <p:nvPr/>
        </p:nvSpPr>
        <p:spPr>
          <a:xfrm>
            <a:off x="14779065" y="5554652"/>
            <a:ext cx="418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Etapas de </a:t>
            </a:r>
            <a:r>
              <a:rPr b="1" lang="es-CL" sz="3000">
                <a:solidFill>
                  <a:schemeClr val="dk1"/>
                </a:solidFill>
              </a:rPr>
              <a:t>implementación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a1cd72a1df_0_0"/>
          <p:cNvSpPr txBox="1"/>
          <p:nvPr/>
        </p:nvSpPr>
        <p:spPr>
          <a:xfrm>
            <a:off x="9617262" y="6961256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a1cd72a1df_0_0"/>
          <p:cNvSpPr txBox="1"/>
          <p:nvPr/>
        </p:nvSpPr>
        <p:spPr>
          <a:xfrm>
            <a:off x="14656174" y="4792652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a1cd72a1df_0_0"/>
          <p:cNvSpPr txBox="1"/>
          <p:nvPr/>
        </p:nvSpPr>
        <p:spPr>
          <a:xfrm>
            <a:off x="9617262" y="3310963"/>
            <a:ext cx="457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Problemática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a1cd72a1df_0_0"/>
          <p:cNvSpPr txBox="1"/>
          <p:nvPr/>
        </p:nvSpPr>
        <p:spPr>
          <a:xfrm>
            <a:off x="14779065" y="7637010"/>
            <a:ext cx="418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Muestra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a1cd72a1df_0_0"/>
          <p:cNvSpPr txBox="1"/>
          <p:nvPr/>
        </p:nvSpPr>
        <p:spPr>
          <a:xfrm>
            <a:off x="14656174" y="6875010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a1cd72a1df_0_0"/>
          <p:cNvSpPr txBox="1"/>
          <p:nvPr/>
        </p:nvSpPr>
        <p:spPr>
          <a:xfrm>
            <a:off x="9617262" y="9275981"/>
            <a:ext cx="4166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Propuesta técnica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07" name="Google Shape;107;g3a1cd72a1df_0_0"/>
          <p:cNvSpPr txBox="1"/>
          <p:nvPr/>
        </p:nvSpPr>
        <p:spPr>
          <a:xfrm>
            <a:off x="9617262" y="8513981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a1cd72a1df_0_0"/>
          <p:cNvSpPr txBox="1"/>
          <p:nvPr/>
        </p:nvSpPr>
        <p:spPr>
          <a:xfrm>
            <a:off x="14901965" y="9275985"/>
            <a:ext cx="418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CL" sz="3000">
                <a:solidFill>
                  <a:schemeClr val="dk1"/>
                </a:solidFill>
              </a:rPr>
              <a:t>Retrospectiva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a1cd72a1df_0_0"/>
          <p:cNvSpPr txBox="1"/>
          <p:nvPr/>
        </p:nvSpPr>
        <p:spPr>
          <a:xfrm>
            <a:off x="14779074" y="8513985"/>
            <a:ext cx="106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4413250" y="7559675"/>
            <a:ext cx="10134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Problemática</a:t>
            </a:r>
            <a:endParaRPr/>
          </a:p>
        </p:txBody>
      </p:sp>
      <p:sp>
        <p:nvSpPr>
          <p:cNvPr id="115" name="Google Shape;115;p5"/>
          <p:cNvSpPr txBox="1"/>
          <p:nvPr/>
        </p:nvSpPr>
        <p:spPr>
          <a:xfrm>
            <a:off x="12677531" y="6082347"/>
            <a:ext cx="1905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1d32738e2_0_0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Problemática</a:t>
            </a:r>
            <a:r>
              <a:rPr lang="es-CL"/>
              <a:t> y cliente referente</a:t>
            </a:r>
            <a:endParaRPr/>
          </a:p>
        </p:txBody>
      </p:sp>
      <p:pic>
        <p:nvPicPr>
          <p:cNvPr id="121" name="Google Shape;121;g3a1d32738e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250" y="2784938"/>
            <a:ext cx="8444275" cy="5739468"/>
          </a:xfrm>
          <a:prstGeom prst="rect">
            <a:avLst/>
          </a:prstGeom>
          <a:solidFill>
            <a:srgbClr val="01AFD1"/>
          </a:solidFill>
          <a:ln>
            <a:noFill/>
          </a:ln>
        </p:spPr>
      </p:pic>
      <p:pic>
        <p:nvPicPr>
          <p:cNvPr id="122" name="Google Shape;122;g3a1d32738e2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29225" y="2222262"/>
            <a:ext cx="8486050" cy="6864825"/>
          </a:xfrm>
          <a:prstGeom prst="rect">
            <a:avLst/>
          </a:prstGeom>
          <a:solidFill>
            <a:srgbClr val="01AFD1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9046b8d99_0_0"/>
          <p:cNvSpPr txBox="1"/>
          <p:nvPr>
            <p:ph type="title"/>
          </p:nvPr>
        </p:nvSpPr>
        <p:spPr>
          <a:xfrm>
            <a:off x="4413250" y="7559675"/>
            <a:ext cx="1013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Solución a la problemática</a:t>
            </a:r>
            <a:endParaRPr/>
          </a:p>
        </p:txBody>
      </p:sp>
      <p:sp>
        <p:nvSpPr>
          <p:cNvPr id="128" name="Google Shape;128;g399046b8d99_0_0"/>
          <p:cNvSpPr txBox="1"/>
          <p:nvPr/>
        </p:nvSpPr>
        <p:spPr>
          <a:xfrm>
            <a:off x="12677531" y="6082347"/>
            <a:ext cx="1905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9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89491434a_0_212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Solución</a:t>
            </a:r>
            <a:endParaRPr/>
          </a:p>
        </p:txBody>
      </p:sp>
      <p:pic>
        <p:nvPicPr>
          <p:cNvPr id="134" name="Google Shape;134;g3989491434a_0_2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5138" y="-197512"/>
            <a:ext cx="15073825" cy="1170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4b9596d6e_0_3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Modelo Canvas</a:t>
            </a:r>
            <a:endParaRPr/>
          </a:p>
        </p:txBody>
      </p:sp>
      <p:sp>
        <p:nvSpPr>
          <p:cNvPr id="140" name="Google Shape;140;g3a4b9596d6e_0_3"/>
          <p:cNvSpPr/>
          <p:nvPr/>
        </p:nvSpPr>
        <p:spPr>
          <a:xfrm>
            <a:off x="386570" y="1884974"/>
            <a:ext cx="19365300" cy="7686900"/>
          </a:xfrm>
          <a:prstGeom prst="rect">
            <a:avLst/>
          </a:prstGeom>
          <a:noFill/>
          <a:ln cap="flat" cmpd="sng" w="38400">
            <a:solidFill>
              <a:srgbClr val="3737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g3a4b9596d6e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500" y="5285575"/>
            <a:ext cx="3768250" cy="20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, Rectángulo&#10;&#10;Descripción generada automáticamente" id="142" name="Google Shape;142;g3a4b9596d6e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22866" y="8126482"/>
            <a:ext cx="8432202" cy="1281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, Cuadrado&#10;&#10;Descripción generada automáticamente" id="143" name="Google Shape;143;g3a4b9596d6e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55259" y="5384463"/>
            <a:ext cx="3299266" cy="17023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, Rectángulo&#10;&#10;Descripción generada automáticamente" id="144" name="Google Shape;144;g3a4b9596d6e_0_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24825" y="2687863"/>
            <a:ext cx="3601200" cy="2186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a4b9596d6e_0_3"/>
          <p:cNvSpPr txBox="1"/>
          <p:nvPr/>
        </p:nvSpPr>
        <p:spPr>
          <a:xfrm>
            <a:off x="12581532" y="3084753"/>
            <a:ext cx="4848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250" lIns="184250" spcFirstLastPara="1" rIns="184250" wrap="square" tIns="18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ma, Rectángulo&#10;&#10;Descripción generada automáticamente" id="146" name="Google Shape;146;g3a4b9596d6e_0_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746" y="7993639"/>
            <a:ext cx="8914341" cy="12938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g3a4b9596d6e_0_3"/>
          <p:cNvCxnSpPr/>
          <p:nvPr/>
        </p:nvCxnSpPr>
        <p:spPr>
          <a:xfrm flipH="1" rot="10800000">
            <a:off x="386585" y="7329710"/>
            <a:ext cx="19365300" cy="2100"/>
          </a:xfrm>
          <a:prstGeom prst="straightConnector1">
            <a:avLst/>
          </a:prstGeom>
          <a:noFill/>
          <a:ln cap="flat" cmpd="sng" w="3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g3a4b9596d6e_0_3"/>
          <p:cNvCxnSpPr/>
          <p:nvPr/>
        </p:nvCxnSpPr>
        <p:spPr>
          <a:xfrm flipH="1" rot="10800000">
            <a:off x="10069253" y="7312068"/>
            <a:ext cx="2100" cy="2259900"/>
          </a:xfrm>
          <a:prstGeom prst="straightConnector1">
            <a:avLst/>
          </a:prstGeom>
          <a:noFill/>
          <a:ln cap="flat" cmpd="sng" w="3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g3a4b9596d6e_0_3"/>
          <p:cNvCxnSpPr/>
          <p:nvPr/>
        </p:nvCxnSpPr>
        <p:spPr>
          <a:xfrm>
            <a:off x="3975748" y="1872021"/>
            <a:ext cx="0" cy="5457900"/>
          </a:xfrm>
          <a:prstGeom prst="straightConnector1">
            <a:avLst/>
          </a:prstGeom>
          <a:noFill/>
          <a:ln cap="flat" cmpd="sng" w="3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g3a4b9596d6e_0_3"/>
          <p:cNvCxnSpPr/>
          <p:nvPr/>
        </p:nvCxnSpPr>
        <p:spPr>
          <a:xfrm>
            <a:off x="8003458" y="1884984"/>
            <a:ext cx="27600" cy="5445000"/>
          </a:xfrm>
          <a:prstGeom prst="straightConnector1">
            <a:avLst/>
          </a:prstGeom>
          <a:noFill/>
          <a:ln cap="flat" cmpd="sng" w="3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g3a4b9596d6e_0_3"/>
          <p:cNvCxnSpPr/>
          <p:nvPr/>
        </p:nvCxnSpPr>
        <p:spPr>
          <a:xfrm>
            <a:off x="11847112" y="1882232"/>
            <a:ext cx="0" cy="5447400"/>
          </a:xfrm>
          <a:prstGeom prst="straightConnector1">
            <a:avLst/>
          </a:prstGeom>
          <a:noFill/>
          <a:ln cap="flat" cmpd="sng" w="3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g3a4b9596d6e_0_3"/>
          <p:cNvCxnSpPr/>
          <p:nvPr/>
        </p:nvCxnSpPr>
        <p:spPr>
          <a:xfrm>
            <a:off x="16192111" y="1870339"/>
            <a:ext cx="0" cy="5459400"/>
          </a:xfrm>
          <a:prstGeom prst="straightConnector1">
            <a:avLst/>
          </a:prstGeom>
          <a:noFill/>
          <a:ln cap="flat" cmpd="sng" w="3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g3a4b9596d6e_0_3"/>
          <p:cNvCxnSpPr/>
          <p:nvPr/>
        </p:nvCxnSpPr>
        <p:spPr>
          <a:xfrm>
            <a:off x="11847475" y="4683839"/>
            <a:ext cx="4334700" cy="0"/>
          </a:xfrm>
          <a:prstGeom prst="straightConnector1">
            <a:avLst/>
          </a:prstGeom>
          <a:noFill/>
          <a:ln cap="flat" cmpd="sng" w="3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g3a4b9596d6e_0_3"/>
          <p:cNvCxnSpPr/>
          <p:nvPr/>
        </p:nvCxnSpPr>
        <p:spPr>
          <a:xfrm>
            <a:off x="3993053" y="4683839"/>
            <a:ext cx="4028100" cy="0"/>
          </a:xfrm>
          <a:prstGeom prst="straightConnector1">
            <a:avLst/>
          </a:prstGeom>
          <a:noFill/>
          <a:ln cap="flat" cmpd="sng" w="3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g3a4b9596d6e_0_3"/>
          <p:cNvSpPr txBox="1"/>
          <p:nvPr/>
        </p:nvSpPr>
        <p:spPr>
          <a:xfrm>
            <a:off x="406358" y="1961900"/>
            <a:ext cx="36012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1)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PROBLEMAS DEL CLIENTE/USUARIO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a4b9596d6e_0_3"/>
          <p:cNvSpPr txBox="1"/>
          <p:nvPr/>
        </p:nvSpPr>
        <p:spPr>
          <a:xfrm>
            <a:off x="3986163" y="1961907"/>
            <a:ext cx="40248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4)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a4b9596d6e_0_3"/>
          <p:cNvSpPr txBox="1"/>
          <p:nvPr/>
        </p:nvSpPr>
        <p:spPr>
          <a:xfrm>
            <a:off x="3999208" y="4543271"/>
            <a:ext cx="40062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8)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MÉTRICAS CLAVES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a4b9596d6e_0_3"/>
          <p:cNvSpPr txBox="1"/>
          <p:nvPr/>
        </p:nvSpPr>
        <p:spPr>
          <a:xfrm>
            <a:off x="8020766" y="1970541"/>
            <a:ext cx="38202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3)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PROPUESTA ÚNICA DE VALOR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a4b9596d6e_0_3"/>
          <p:cNvSpPr txBox="1"/>
          <p:nvPr/>
        </p:nvSpPr>
        <p:spPr>
          <a:xfrm>
            <a:off x="11850922" y="1864447"/>
            <a:ext cx="43545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5)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VENTAJA INIGUALABLE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a4b9596d6e_0_3"/>
          <p:cNvSpPr txBox="1"/>
          <p:nvPr/>
        </p:nvSpPr>
        <p:spPr>
          <a:xfrm>
            <a:off x="16182250" y="2008173"/>
            <a:ext cx="35460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2)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ADOPTANTE TEMPRANO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a4b9596d6e_0_3"/>
          <p:cNvSpPr txBox="1"/>
          <p:nvPr/>
        </p:nvSpPr>
        <p:spPr>
          <a:xfrm>
            <a:off x="11857219" y="4654792"/>
            <a:ext cx="41625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9) CANALES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a4b9596d6e_0_3"/>
          <p:cNvSpPr txBox="1"/>
          <p:nvPr/>
        </p:nvSpPr>
        <p:spPr>
          <a:xfrm>
            <a:off x="443692" y="7214989"/>
            <a:ext cx="78498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7)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ESTRUCTURA SIMPLE DE COSTOS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a4b9596d6e_0_3"/>
          <p:cNvSpPr txBox="1"/>
          <p:nvPr/>
        </p:nvSpPr>
        <p:spPr>
          <a:xfrm>
            <a:off x="10095419" y="7319407"/>
            <a:ext cx="62496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6)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MECANISMO DE INGRESOS</a:t>
            </a:r>
            <a:endParaRPr b="1" i="0" sz="2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a4b9596d6e_0_3"/>
          <p:cNvSpPr txBox="1"/>
          <p:nvPr/>
        </p:nvSpPr>
        <p:spPr>
          <a:xfrm>
            <a:off x="12916600" y="3336072"/>
            <a:ext cx="4848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250" lIns="184250" spcFirstLastPara="1" rIns="184250" wrap="square" tIns="18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a4b9596d6e_0_3"/>
          <p:cNvSpPr/>
          <p:nvPr/>
        </p:nvSpPr>
        <p:spPr>
          <a:xfrm>
            <a:off x="413147" y="6107155"/>
            <a:ext cx="3870300" cy="1064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92100" lIns="184250" spcFirstLastPara="1" rIns="184250" wrap="square" tIns="92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3 Competidores</a:t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g3a4b9596d6e_0_3"/>
          <p:cNvCxnSpPr/>
          <p:nvPr/>
        </p:nvCxnSpPr>
        <p:spPr>
          <a:xfrm>
            <a:off x="352234" y="5937251"/>
            <a:ext cx="3523500" cy="12000"/>
          </a:xfrm>
          <a:prstGeom prst="straightConnector1">
            <a:avLst/>
          </a:prstGeom>
          <a:noFill/>
          <a:ln cap="flat" cmpd="sng" w="19200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67" name="Google Shape;167;g3a4b9596d6e_0_3"/>
          <p:cNvSpPr txBox="1"/>
          <p:nvPr/>
        </p:nvSpPr>
        <p:spPr>
          <a:xfrm>
            <a:off x="13251668" y="3587391"/>
            <a:ext cx="4848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4250" lIns="184250" spcFirstLastPara="1" rIns="184250" wrap="square" tIns="184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ma, Cuadrado&#10;&#10;Descripción generada automáticamente" id="168" name="Google Shape;168;g3a4b9596d6e_0_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8530" y="3093860"/>
            <a:ext cx="3115263" cy="4007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, Cuadrado&#10;&#10;Descripción generada automáticamente" id="169" name="Google Shape;169;g3a4b9596d6e_0_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28876" y="3066884"/>
            <a:ext cx="3820636" cy="37300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g3a4b9596d6e_0_3"/>
          <p:cNvGrpSpPr/>
          <p:nvPr/>
        </p:nvGrpSpPr>
        <p:grpSpPr>
          <a:xfrm>
            <a:off x="16685126" y="2945371"/>
            <a:ext cx="2790703" cy="2777189"/>
            <a:chOff x="7547113" y="1084913"/>
            <a:chExt cx="1276333" cy="1190496"/>
          </a:xfrm>
        </p:grpSpPr>
        <p:pic>
          <p:nvPicPr>
            <p:cNvPr id="171" name="Google Shape;171;g3a4b9596d6e_0_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47113" y="1084913"/>
              <a:ext cx="1276333" cy="11904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g3a4b9596d6e_0_3"/>
            <p:cNvSpPr txBox="1"/>
            <p:nvPr/>
          </p:nvSpPr>
          <p:spPr>
            <a:xfrm>
              <a:off x="7639231" y="1144654"/>
              <a:ext cx="1132500" cy="10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4250" lIns="184250" spcFirstLastPara="1" rIns="184250" wrap="square" tIns="184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g3a4b9596d6e_0_3"/>
          <p:cNvGrpSpPr/>
          <p:nvPr/>
        </p:nvGrpSpPr>
        <p:grpSpPr>
          <a:xfrm>
            <a:off x="3933668" y="2771553"/>
            <a:ext cx="3926276" cy="1791487"/>
            <a:chOff x="1746948" y="995571"/>
            <a:chExt cx="1790286" cy="1389719"/>
          </a:xfrm>
        </p:grpSpPr>
        <p:pic>
          <p:nvPicPr>
            <p:cNvPr id="174" name="Google Shape;174;g3a4b9596d6e_0_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46948" y="995571"/>
              <a:ext cx="1790286" cy="13897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g3a4b9596d6e_0_3"/>
            <p:cNvSpPr txBox="1"/>
            <p:nvPr/>
          </p:nvSpPr>
          <p:spPr>
            <a:xfrm>
              <a:off x="1990368" y="1222499"/>
              <a:ext cx="1361100" cy="9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4250" lIns="184250" spcFirstLastPara="1" rIns="184250" wrap="square" tIns="18425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s-CL" sz="1100">
                  <a:solidFill>
                    <a:schemeClr val="dk1"/>
                  </a:solidFill>
                </a:rPr>
                <a:t>Publicador de prácticas para empresas.</a:t>
              </a:r>
              <a:br>
                <a:rPr lang="es-CL" sz="1100">
                  <a:solidFill>
                    <a:schemeClr val="dk1"/>
                  </a:solidFill>
                </a:rPr>
              </a:b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s-CL" sz="1100">
                  <a:solidFill>
                    <a:schemeClr val="dk1"/>
                  </a:solidFill>
                </a:rPr>
                <a:t>Buscador y postulador de prácticas para estudiantes.</a:t>
              </a:r>
              <a:br>
                <a:rPr lang="es-CL" sz="1100">
                  <a:solidFill>
                    <a:schemeClr val="dk1"/>
                  </a:solidFill>
                </a:rPr>
              </a:b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s-CL" sz="1100">
                  <a:solidFill>
                    <a:schemeClr val="dk1"/>
                  </a:solidFill>
                </a:rPr>
                <a:t>Panel de seguimiento del estado de postulación.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434343"/>
                </a:solidFill>
              </a:endParaRPr>
            </a:p>
          </p:txBody>
        </p:sp>
      </p:grpSp>
      <p:sp>
        <p:nvSpPr>
          <p:cNvPr id="176" name="Google Shape;176;g3a4b9596d6e_0_3"/>
          <p:cNvSpPr txBox="1"/>
          <p:nvPr/>
        </p:nvSpPr>
        <p:spPr>
          <a:xfrm>
            <a:off x="12209375" y="2771563"/>
            <a:ext cx="3445200" cy="17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Char char="●"/>
            </a:pPr>
            <a:r>
              <a:rPr lang="es-CL" sz="1500">
                <a:solidFill>
                  <a:srgbClr val="1F1F1F"/>
                </a:solidFill>
              </a:rPr>
              <a:t>Automatización del proceso completo de prácticas y capacitaciones.</a:t>
            </a:r>
            <a:endParaRPr sz="1500">
              <a:solidFill>
                <a:srgbClr val="1F1F1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Char char="●"/>
            </a:pPr>
            <a:r>
              <a:rPr lang="es-CL" sz="1500">
                <a:solidFill>
                  <a:srgbClr val="1F1F1F"/>
                </a:solidFill>
              </a:rPr>
              <a:t>Integración de todos los actores (empresa, estudiante, capacitador) en un solo entorno.</a:t>
            </a:r>
            <a:endParaRPr sz="1500">
              <a:solidFill>
                <a:srgbClr val="1F1F1F"/>
              </a:solidFill>
            </a:endParaRPr>
          </a:p>
        </p:txBody>
      </p:sp>
      <p:grpSp>
        <p:nvGrpSpPr>
          <p:cNvPr id="177" name="Google Shape;177;g3a4b9596d6e_0_3"/>
          <p:cNvGrpSpPr/>
          <p:nvPr/>
        </p:nvGrpSpPr>
        <p:grpSpPr>
          <a:xfrm>
            <a:off x="16209410" y="2904349"/>
            <a:ext cx="3445079" cy="3842206"/>
            <a:chOff x="7373784" y="2267726"/>
            <a:chExt cx="1276333" cy="1190496"/>
          </a:xfrm>
        </p:grpSpPr>
        <p:pic>
          <p:nvPicPr>
            <p:cNvPr id="178" name="Google Shape;178;g3a4b9596d6e_0_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373784" y="2267726"/>
              <a:ext cx="1276333" cy="11904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g3a4b9596d6e_0_3"/>
            <p:cNvSpPr txBox="1"/>
            <p:nvPr/>
          </p:nvSpPr>
          <p:spPr>
            <a:xfrm>
              <a:off x="7465902" y="2327467"/>
              <a:ext cx="1132500" cy="10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4250" lIns="184250" spcFirstLastPara="1" rIns="184250" wrap="square" tIns="184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g3a4b9596d6e_0_3"/>
          <p:cNvSpPr txBox="1"/>
          <p:nvPr/>
        </p:nvSpPr>
        <p:spPr>
          <a:xfrm>
            <a:off x="8470350" y="3145010"/>
            <a:ext cx="3115200" cy="3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lang="es-CL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Plataforma integral que conecta empresas, practicantes y capacitadores.</a:t>
            </a:r>
            <a:br>
              <a:rPr lang="es-CL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endParaRPr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lang="es-CL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Centraliza publicación, postulación y seguimiento de prácticas.</a:t>
            </a:r>
            <a:br>
              <a:rPr lang="es-CL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endParaRPr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lang="es-CL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Permite agendar capacitaciones directamente desde el sistema.</a:t>
            </a:r>
            <a:br>
              <a:rPr lang="es-CL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endParaRPr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lang="es-CL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Interfaz amigable, accesible y con control de roles (empresa, practicante, capacitador).</a:t>
            </a:r>
            <a:endParaRPr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81" name="Google Shape;181;g3a4b9596d6e_0_3"/>
          <p:cNvSpPr txBox="1"/>
          <p:nvPr/>
        </p:nvSpPr>
        <p:spPr>
          <a:xfrm>
            <a:off x="692331" y="3128442"/>
            <a:ext cx="2635800" cy="3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 Condensed"/>
              <a:buChar char="●"/>
            </a:pPr>
            <a:r>
              <a:rPr lang="es-CL" sz="17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Dificultad para encontrar prácticas adecuadas según carrera o disponibilidad.</a:t>
            </a:r>
            <a:br>
              <a:rPr lang="es-CL" sz="17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endParaRPr sz="17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 Condensed"/>
              <a:buChar char="●"/>
            </a:pPr>
            <a:r>
              <a:rPr lang="es-CL" sz="17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Procesos lentos y manuales para postular o revisar postulaciones.</a:t>
            </a:r>
            <a:br>
              <a:rPr lang="es-CL" sz="17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endParaRPr sz="17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Barlow Condensed"/>
              <a:buChar char="●"/>
            </a:pPr>
            <a:r>
              <a:rPr lang="es-CL" sz="17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Poca trazabilidad del estado de postulación.</a:t>
            </a:r>
            <a:endParaRPr sz="17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82" name="Google Shape;182;g3a4b9596d6e_0_3"/>
          <p:cNvSpPr txBox="1"/>
          <p:nvPr/>
        </p:nvSpPr>
        <p:spPr>
          <a:xfrm>
            <a:off x="12770045" y="5421254"/>
            <a:ext cx="24714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página WEB</a:t>
            </a:r>
            <a:r>
              <a:rPr lang="es-CL" sz="24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, </a:t>
            </a:r>
            <a:r>
              <a:rPr b="0" i="0" lang="es-CL" sz="2400" u="none" cap="none" strike="noStrik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correo</a:t>
            </a:r>
            <a:r>
              <a:rPr lang="es-CL" sz="24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83" name="Google Shape;183;g3a4b9596d6e_0_3"/>
          <p:cNvSpPr txBox="1"/>
          <p:nvPr/>
        </p:nvSpPr>
        <p:spPr>
          <a:xfrm>
            <a:off x="11398675" y="8252858"/>
            <a:ext cx="70806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CL" sz="22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Arriendo web a empresas.</a:t>
            </a:r>
            <a:endParaRPr b="0" i="0" sz="2200" u="none" cap="none" strike="noStrik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84" name="Google Shape;184;g3a4b9596d6e_0_3"/>
          <p:cNvSpPr txBox="1"/>
          <p:nvPr/>
        </p:nvSpPr>
        <p:spPr>
          <a:xfrm>
            <a:off x="1963513" y="8126497"/>
            <a:ext cx="72600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Mantenimiento Web, página web, Mantenimiento Seguridad, Local, Servicios.</a:t>
            </a:r>
            <a:endParaRPr b="0" i="0" sz="1800" u="none" cap="none" strike="noStrik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85" name="Google Shape;185;g3a4b9596d6e_0_3"/>
          <p:cNvSpPr txBox="1"/>
          <p:nvPr/>
        </p:nvSpPr>
        <p:spPr>
          <a:xfrm>
            <a:off x="16642705" y="3145015"/>
            <a:ext cx="2635800" cy="3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"/>
              <a:buChar char="●"/>
            </a:pPr>
            <a: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Estudiantes en búsqueda de su primera práctica profesional.</a:t>
            </a:r>
            <a:b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endParaRPr sz="18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"/>
              <a:buChar char="●"/>
            </a:pPr>
            <a: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Empresas que constantemente publican oportunidades de práctica.</a:t>
            </a:r>
            <a:endParaRPr sz="18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86" name="Google Shape;186;g3a4b9596d6e_0_3"/>
          <p:cNvSpPr txBox="1"/>
          <p:nvPr/>
        </p:nvSpPr>
        <p:spPr>
          <a:xfrm>
            <a:off x="4486450" y="5253703"/>
            <a:ext cx="30063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4250" lIns="184250" spcFirstLastPara="1" rIns="184250" wrap="square" tIns="184250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cantidad de visualizaciones de la página</a:t>
            </a:r>
            <a:endParaRPr b="0" i="0" sz="1800" u="none" cap="none" strike="noStrike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"/>
              <a:buChar char="●"/>
            </a:pPr>
            <a: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Cantidad de empresas registradas activas.</a:t>
            </a:r>
            <a:endParaRPr sz="18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"/>
              <a:buChar char="●"/>
            </a:pPr>
            <a:r>
              <a:rPr lang="es-CL" sz="18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Número de postulaciones generadas por mes.</a:t>
            </a:r>
            <a:endParaRPr sz="18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 txBox="1"/>
          <p:nvPr/>
        </p:nvSpPr>
        <p:spPr>
          <a:xfrm>
            <a:off x="8159750" y="6250622"/>
            <a:ext cx="1905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9600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1517650" y="7712075"/>
            <a:ext cx="830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s-CL" sz="4800">
                <a:solidFill>
                  <a:srgbClr val="257CE1"/>
                </a:solidFill>
              </a:rPr>
              <a:t>Planificación</a:t>
            </a:r>
            <a:r>
              <a:rPr b="1" lang="es-CL" sz="4800">
                <a:solidFill>
                  <a:srgbClr val="257CE1"/>
                </a:solidFill>
              </a:rPr>
              <a:t> del proyecto</a:t>
            </a:r>
            <a:endParaRPr b="1" i="0" sz="4800" u="none" cap="none" strike="noStrike">
              <a:solidFill>
                <a:srgbClr val="257C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0450" y="1867948"/>
            <a:ext cx="9356149" cy="874060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8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Objetivo general y </a:t>
            </a:r>
            <a:r>
              <a:rPr lang="es-CL"/>
              <a:t>específico</a:t>
            </a:r>
            <a:endParaRPr/>
          </a:p>
        </p:txBody>
      </p:sp>
      <p:sp>
        <p:nvSpPr>
          <p:cNvPr id="199" name="Google Shape;199;p8"/>
          <p:cNvSpPr txBox="1"/>
          <p:nvPr/>
        </p:nvSpPr>
        <p:spPr>
          <a:xfrm>
            <a:off x="1926672" y="2794476"/>
            <a:ext cx="7302000" cy="57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Nuestro objetivo estratégico es diseñar una página web</a:t>
            </a:r>
            <a:r>
              <a:rPr lang="es-CL" sz="3400">
                <a:solidFill>
                  <a:schemeClr val="dk1"/>
                </a:solidFill>
              </a:rPr>
              <a:t> responsive para la postulación, la citación y la entrevista para la capacitación del practicante.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Mientras que nuestro objetivo principal, es </a:t>
            </a:r>
            <a:r>
              <a:rPr lang="es-CL" sz="3400">
                <a:solidFill>
                  <a:schemeClr val="dk1"/>
                </a:solidFill>
              </a:rPr>
              <a:t>hacer una pagina que concentre todas las postulaciones en el área informática para las distintas empresas.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8"/>
          <p:cNvPicPr preferRelativeResize="0"/>
          <p:nvPr/>
        </p:nvPicPr>
        <p:blipFill rotWithShape="1">
          <a:blip r:embed="rId4">
            <a:alphaModFix/>
          </a:blip>
          <a:srcRect b="0" l="7851" r="0" t="9510"/>
          <a:stretch/>
        </p:blipFill>
        <p:spPr>
          <a:xfrm>
            <a:off x="10149825" y="2462000"/>
            <a:ext cx="9022051" cy="814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991c489733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400" y="1693223"/>
            <a:ext cx="9356149" cy="87406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991c489733_0_19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Objetivo general y específico</a:t>
            </a:r>
            <a:endParaRPr/>
          </a:p>
        </p:txBody>
      </p:sp>
      <p:pic>
        <p:nvPicPr>
          <p:cNvPr id="207" name="Google Shape;207;g3991c489733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8400" y="1283250"/>
            <a:ext cx="7710150" cy="915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9046b8d99_0_5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Metodología</a:t>
            </a:r>
            <a:r>
              <a:rPr lang="es-CL"/>
              <a:t> del proyecto</a:t>
            </a:r>
            <a:endParaRPr/>
          </a:p>
        </p:txBody>
      </p:sp>
      <p:pic>
        <p:nvPicPr>
          <p:cNvPr id="213" name="Google Shape;213;g399046b8d99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5550" y="1460250"/>
            <a:ext cx="12792999" cy="838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/>
          <p:nvPr>
            <p:ph type="title"/>
          </p:nvPr>
        </p:nvSpPr>
        <p:spPr>
          <a:xfrm>
            <a:off x="6242050" y="9007475"/>
            <a:ext cx="9387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Propuesta </a:t>
            </a:r>
            <a:r>
              <a:rPr lang="es-CL" sz="6600"/>
              <a:t>técnica</a:t>
            </a:r>
            <a:endParaRPr/>
          </a:p>
        </p:txBody>
      </p:sp>
      <p:sp>
        <p:nvSpPr>
          <p:cNvPr id="219" name="Google Shape;219;p11"/>
          <p:cNvSpPr txBox="1"/>
          <p:nvPr/>
        </p:nvSpPr>
        <p:spPr>
          <a:xfrm>
            <a:off x="6276975" y="7752358"/>
            <a:ext cx="167095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19caba1fe_0_0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Modelo por capas</a:t>
            </a:r>
            <a:endParaRPr/>
          </a:p>
        </p:txBody>
      </p:sp>
      <p:pic>
        <p:nvPicPr>
          <p:cNvPr id="225" name="Google Shape;225;g3a19caba1fe_0_0" title="Captura de pantalla 2025-11-17 1624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8675" y="2362512"/>
            <a:ext cx="8286750" cy="658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9046b8d99_0_10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Modelamientos utilizados</a:t>
            </a:r>
            <a:endParaRPr/>
          </a:p>
        </p:txBody>
      </p:sp>
      <p:pic>
        <p:nvPicPr>
          <p:cNvPr id="231" name="Google Shape;231;g399046b8d99_0_10" title="Captura de pantalla 2025-11-06 2349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154" y="1763125"/>
            <a:ext cx="6433625" cy="511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99046b8d99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7900" y="2093447"/>
            <a:ext cx="7588149" cy="445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99046b8d99_0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225" y="6880200"/>
            <a:ext cx="6769552" cy="317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99046b8d99_0_10" title="Captura de pantalla 2025-09-12 16384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89200" y="6636776"/>
            <a:ext cx="8306851" cy="366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g3a19d2cdb6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825" y="2636725"/>
            <a:ext cx="9450925" cy="619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a19d2cdb69_0_0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Diseño inicial y set de pruebas</a:t>
            </a:r>
            <a:endParaRPr/>
          </a:p>
        </p:txBody>
      </p:sp>
      <p:pic>
        <p:nvPicPr>
          <p:cNvPr id="241" name="Google Shape;241;g3a19d2cdb69_0_0" title="Captura de pantalla 2025-09-12 1732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225" y="2830750"/>
            <a:ext cx="9009627" cy="564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a19d2cdb69_0_0" title="Captura de pantalla 2025-11-10 19250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38475" y="2773282"/>
            <a:ext cx="9009626" cy="5762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"/>
          <p:cNvSpPr txBox="1"/>
          <p:nvPr>
            <p:ph type="title"/>
          </p:nvPr>
        </p:nvSpPr>
        <p:spPr>
          <a:xfrm>
            <a:off x="222250" y="7407275"/>
            <a:ext cx="1039352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Tecnologías</a:t>
            </a:r>
            <a:r>
              <a:rPr lang="es-CL" sz="6600"/>
              <a:t> utilizadas</a:t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9089872" y="6188075"/>
            <a:ext cx="1905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9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5950" y="2449799"/>
            <a:ext cx="5056520" cy="364297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Tecnologías</a:t>
            </a:r>
            <a:r>
              <a:rPr lang="es-CL"/>
              <a:t> que usamos</a:t>
            </a:r>
            <a:endParaRPr/>
          </a:p>
        </p:txBody>
      </p:sp>
      <p:pic>
        <p:nvPicPr>
          <p:cNvPr id="255" name="Google Shape;25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8825" y="2662250"/>
            <a:ext cx="4290776" cy="321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75473" y="2544300"/>
            <a:ext cx="5183826" cy="345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705175" y="2355301"/>
            <a:ext cx="3642975" cy="36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28638" y="6816950"/>
            <a:ext cx="5183826" cy="33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21120" y="7465875"/>
            <a:ext cx="581025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91c489733_0_32"/>
          <p:cNvSpPr txBox="1"/>
          <p:nvPr>
            <p:ph type="title"/>
          </p:nvPr>
        </p:nvSpPr>
        <p:spPr>
          <a:xfrm>
            <a:off x="222250" y="7407275"/>
            <a:ext cx="10393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Etapas de </a:t>
            </a:r>
            <a:r>
              <a:rPr lang="es-CL" sz="6600"/>
              <a:t>implementación</a:t>
            </a:r>
            <a:endParaRPr/>
          </a:p>
        </p:txBody>
      </p:sp>
      <p:sp>
        <p:nvSpPr>
          <p:cNvPr id="265" name="Google Shape;265;g3991c489733_0_32"/>
          <p:cNvSpPr txBox="1"/>
          <p:nvPr/>
        </p:nvSpPr>
        <p:spPr>
          <a:xfrm>
            <a:off x="9089872" y="6188075"/>
            <a:ext cx="1905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9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Roadmap</a:t>
            </a:r>
            <a:endParaRPr/>
          </a:p>
        </p:txBody>
      </p:sp>
      <p:pic>
        <p:nvPicPr>
          <p:cNvPr id="271" name="Google Shape;271;p12" title="Captura de pantalla 2025-11-10 1954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788" y="2320925"/>
            <a:ext cx="18254526" cy="697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91c489733_0_37"/>
          <p:cNvSpPr txBox="1"/>
          <p:nvPr>
            <p:ph idx="1" type="body"/>
          </p:nvPr>
        </p:nvSpPr>
        <p:spPr>
          <a:xfrm>
            <a:off x="727227" y="755454"/>
            <a:ext cx="1679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RACI</a:t>
            </a:r>
            <a:endParaRPr/>
          </a:p>
        </p:txBody>
      </p:sp>
      <p:pic>
        <p:nvPicPr>
          <p:cNvPr id="277" name="Google Shape;277;g3991c489733_0_37" title="Captura de pantalla 2025-11-10 1957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5763" y="335300"/>
            <a:ext cx="11012575" cy="1063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91c489733_0_43"/>
          <p:cNvSpPr txBox="1"/>
          <p:nvPr>
            <p:ph idx="1" type="body"/>
          </p:nvPr>
        </p:nvSpPr>
        <p:spPr>
          <a:xfrm>
            <a:off x="11425201" y="2557375"/>
            <a:ext cx="764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GitHub</a:t>
            </a:r>
            <a:endParaRPr/>
          </a:p>
        </p:txBody>
      </p:sp>
      <p:sp>
        <p:nvSpPr>
          <p:cNvPr id="283" name="Google Shape;283;g3991c489733_0_43"/>
          <p:cNvSpPr txBox="1"/>
          <p:nvPr>
            <p:ph idx="1" type="body"/>
          </p:nvPr>
        </p:nvSpPr>
        <p:spPr>
          <a:xfrm>
            <a:off x="393100" y="2557375"/>
            <a:ext cx="1029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Trello</a:t>
            </a:r>
            <a:endParaRPr/>
          </a:p>
        </p:txBody>
      </p:sp>
      <p:pic>
        <p:nvPicPr>
          <p:cNvPr id="284" name="Google Shape;284;g3991c489733_0_43" title="Captura de pantalla 2025-11-10 2000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275" y="3608350"/>
            <a:ext cx="9658877" cy="632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991c489733_0_43" title="Captura de pantalla 2025-11-10 2001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2700" y="3782829"/>
            <a:ext cx="8963025" cy="574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"/>
          <p:cNvSpPr txBox="1"/>
          <p:nvPr/>
        </p:nvSpPr>
        <p:spPr>
          <a:xfrm>
            <a:off x="4718050" y="4177347"/>
            <a:ext cx="1905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9600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3"/>
          <p:cNvSpPr txBox="1"/>
          <p:nvPr>
            <p:ph type="title"/>
          </p:nvPr>
        </p:nvSpPr>
        <p:spPr>
          <a:xfrm>
            <a:off x="4794250" y="5349875"/>
            <a:ext cx="9151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Muestra de la </a:t>
            </a:r>
            <a:r>
              <a:rPr lang="es-CL" sz="6600"/>
              <a:t>solución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/>
          <p:nvPr>
            <p:ph type="title"/>
          </p:nvPr>
        </p:nvSpPr>
        <p:spPr>
          <a:xfrm>
            <a:off x="2432050" y="714594"/>
            <a:ext cx="1698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Video funcional de la </a:t>
            </a:r>
            <a:r>
              <a:rPr lang="es-CL"/>
              <a:t>solución</a:t>
            </a:r>
            <a:endParaRPr/>
          </a:p>
        </p:txBody>
      </p:sp>
      <p:pic>
        <p:nvPicPr>
          <p:cNvPr id="297" name="Google Shape;297;p14" title="SimuTech func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6338" y="1890125"/>
            <a:ext cx="12551425" cy="82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"/>
          <p:cNvSpPr txBox="1"/>
          <p:nvPr/>
        </p:nvSpPr>
        <p:spPr>
          <a:xfrm>
            <a:off x="7461250" y="7225347"/>
            <a:ext cx="1905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CL" sz="9600" u="none" cap="none" strike="noStrike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s-CL" sz="9600">
                <a:solidFill>
                  <a:srgbClr val="257CE1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5"/>
          <p:cNvSpPr txBox="1"/>
          <p:nvPr>
            <p:ph type="title"/>
          </p:nvPr>
        </p:nvSpPr>
        <p:spPr>
          <a:xfrm>
            <a:off x="7537450" y="8397875"/>
            <a:ext cx="902002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600"/>
              <a:t>Retrospectiva</a:t>
            </a:r>
            <a:r>
              <a:rPr lang="es-CL" sz="6600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" name="Google Shape;308;p16"/>
          <p:cNvGraphicFramePr/>
          <p:nvPr/>
        </p:nvGraphicFramePr>
        <p:xfrm>
          <a:off x="2231200" y="3902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{F40057A0-89BE-4247-8E93-FEE4D8702D54}</a:tableStyleId>
              </a:tblPr>
              <a:tblGrid>
                <a:gridCol w="2433625"/>
                <a:gridCol w="2394850"/>
                <a:gridCol w="2394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Dificultades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Cómo</a:t>
                      </a:r>
                      <a:r>
                        <a:rPr lang="es-CL"/>
                        <a:t> lo solucionamos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Lecciones aprendidas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54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Poca </a:t>
                      </a:r>
                      <a:r>
                        <a:rPr lang="es-CL"/>
                        <a:t>coordinación</a:t>
                      </a:r>
                      <a:r>
                        <a:rPr lang="es-CL"/>
                        <a:t> y </a:t>
                      </a:r>
                      <a:r>
                        <a:rPr lang="es-CL"/>
                        <a:t>comunicación</a:t>
                      </a:r>
                      <a:r>
                        <a:rPr lang="es-CL"/>
                        <a:t> al inicio.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Tuvimos charlas entre nosotros y nuestro profesor </a:t>
                      </a:r>
                      <a:r>
                        <a:rPr lang="es-CL"/>
                        <a:t>también</a:t>
                      </a:r>
                      <a:r>
                        <a:rPr lang="es-CL"/>
                        <a:t> nos </a:t>
                      </a:r>
                      <a:r>
                        <a:rPr lang="es-CL"/>
                        <a:t>ayudó</a:t>
                      </a:r>
                      <a:r>
                        <a:rPr lang="es-CL"/>
                        <a:t> en ese tema.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>
                          <a:solidFill>
                            <a:schemeClr val="dk1"/>
                          </a:solidFill>
                        </a:rPr>
                        <a:t>Nos dimos cuenta que la </a:t>
                      </a:r>
                      <a:r>
                        <a:rPr lang="es-CL">
                          <a:solidFill>
                            <a:schemeClr val="dk1"/>
                          </a:solidFill>
                        </a:rPr>
                        <a:t>comunicación</a:t>
                      </a:r>
                      <a:r>
                        <a:rPr lang="es-CL">
                          <a:solidFill>
                            <a:schemeClr val="dk1"/>
                          </a:solidFill>
                        </a:rPr>
                        <a:t> y </a:t>
                      </a:r>
                      <a:r>
                        <a:rPr lang="es-CL">
                          <a:solidFill>
                            <a:schemeClr val="dk1"/>
                          </a:solidFill>
                        </a:rPr>
                        <a:t>coordinación</a:t>
                      </a:r>
                      <a:r>
                        <a:rPr lang="es-CL">
                          <a:solidFill>
                            <a:schemeClr val="dk1"/>
                          </a:solidFill>
                        </a:rPr>
                        <a:t> del equipo, es importante para que el proyecto funcione bien.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Adaptación</a:t>
                      </a:r>
                      <a:r>
                        <a:rPr lang="es-CL"/>
                        <a:t> responsive.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Vimos videos y investigamos en internet.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>
                          <a:solidFill>
                            <a:schemeClr val="dk1"/>
                          </a:solidFill>
                        </a:rPr>
                        <a:t>La comunicación constante del equipo redujo los errores al investigar este tema.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Poco conocimiento de los portales de practica comunes.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Nos adentramos </a:t>
                      </a:r>
                      <a:r>
                        <a:rPr lang="es-CL"/>
                        <a:t>más</a:t>
                      </a:r>
                      <a:r>
                        <a:rPr lang="es-CL"/>
                        <a:t> en el tema mediante investigaciones.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L">
                          <a:solidFill>
                            <a:schemeClr val="dk1"/>
                          </a:solidFill>
                        </a:rPr>
                        <a:t>La investigación hizo que el proyecto tuviera mucha más seriedad.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9" name="Google Shape;309;p16"/>
          <p:cNvSpPr txBox="1"/>
          <p:nvPr>
            <p:ph idx="4294967295" type="title"/>
          </p:nvPr>
        </p:nvSpPr>
        <p:spPr>
          <a:xfrm>
            <a:off x="700700" y="762244"/>
            <a:ext cx="16988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/>
              <a:t>Retrospectiva del proyecto</a:t>
            </a:r>
            <a:endParaRPr/>
          </a:p>
        </p:txBody>
      </p:sp>
      <p:pic>
        <p:nvPicPr>
          <p:cNvPr id="310" name="Google Shape;3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9975" y="3291691"/>
            <a:ext cx="7223325" cy="4725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2022-07-20T19:15:37Z</dcterms:created>
  <dc:creator>Daniela Taito R.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0x010100018D87CEFA56DA42BF8E9E6D1D515907</vt:lpwstr>
  </property>
</Properties>
</file>